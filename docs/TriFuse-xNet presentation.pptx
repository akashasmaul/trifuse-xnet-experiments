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5"/>
  </p:notesMasterIdLst>
  <p:sldIdLst>
    <p:sldId id="256" r:id="rId2"/>
    <p:sldId id="268" r:id="rId3"/>
    <p:sldId id="269" r:id="rId4"/>
    <p:sldId id="257" r:id="rId5"/>
    <p:sldId id="275" r:id="rId6"/>
    <p:sldId id="258" r:id="rId7"/>
    <p:sldId id="270" r:id="rId8"/>
    <p:sldId id="271" r:id="rId9"/>
    <p:sldId id="276" r:id="rId10"/>
    <p:sldId id="272" r:id="rId11"/>
    <p:sldId id="273" r:id="rId12"/>
    <p:sldId id="274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83" autoAdjust="0"/>
  </p:normalViewPr>
  <p:slideViewPr>
    <p:cSldViewPr snapToGrid="0">
      <p:cViewPr varScale="1">
        <p:scale>
          <a:sx n="51" d="100"/>
          <a:sy n="51" d="100"/>
        </p:scale>
        <p:origin x="8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193AF2-ECF8-4A40-974F-2B408B2211D4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CA774F5D-EB34-4831-B2FA-4F1A361C1F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Baseline Performance</a:t>
          </a:r>
          <a:r>
            <a:rPr lang="en-US" b="0" i="0"/>
            <a:t>: </a:t>
          </a:r>
          <a:endParaRPr lang="en-US"/>
        </a:p>
      </dgm:t>
    </dgm:pt>
    <dgm:pt modelId="{B3DDCBA9-146A-4D8E-A5E8-7073A9E89FC7}" type="parTrans" cxnId="{1DC6A946-7948-4BCD-B843-1E520EDC5C86}">
      <dgm:prSet/>
      <dgm:spPr/>
      <dgm:t>
        <a:bodyPr/>
        <a:lstStyle/>
        <a:p>
          <a:endParaRPr lang="en-US"/>
        </a:p>
      </dgm:t>
    </dgm:pt>
    <dgm:pt modelId="{5AEB302D-8C74-4002-80B2-DEB1A1D10F13}" type="sibTrans" cxnId="{1DC6A946-7948-4BCD-B843-1E520EDC5C86}">
      <dgm:prSet/>
      <dgm:spPr/>
      <dgm:t>
        <a:bodyPr/>
        <a:lstStyle/>
        <a:p>
          <a:endParaRPr lang="en-US"/>
        </a:p>
      </dgm:t>
    </dgm:pt>
    <dgm:pt modelId="{ED3EEBA2-F5E4-4A72-BA92-0A87C479D5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Internal Accuracy</a:t>
          </a:r>
          <a:r>
            <a:rPr lang="en-US" b="0" i="0" dirty="0"/>
            <a:t>: &gt;99% (High 	Overfitting Risk).</a:t>
          </a:r>
          <a:endParaRPr lang="en-US" dirty="0"/>
        </a:p>
      </dgm:t>
    </dgm:pt>
    <dgm:pt modelId="{FE0F3069-8E0E-4BB6-B5C2-38F568AA2782}" type="parTrans" cxnId="{14C884B1-E78B-4B3E-862E-422BC0CF37C9}">
      <dgm:prSet/>
      <dgm:spPr/>
      <dgm:t>
        <a:bodyPr/>
        <a:lstStyle/>
        <a:p>
          <a:endParaRPr lang="en-US"/>
        </a:p>
      </dgm:t>
    </dgm:pt>
    <dgm:pt modelId="{53C0D0D8-B6A7-4D01-B177-4DA2F959C879}" type="sibTrans" cxnId="{14C884B1-E78B-4B3E-862E-422BC0CF37C9}">
      <dgm:prSet/>
      <dgm:spPr/>
      <dgm:t>
        <a:bodyPr/>
        <a:lstStyle/>
        <a:p>
          <a:endParaRPr lang="en-US"/>
        </a:p>
      </dgm:t>
    </dgm:pt>
    <dgm:pt modelId="{84395053-4209-42CF-A92C-80680F953A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External Accuracy</a:t>
          </a:r>
          <a:r>
            <a:rPr lang="en-US" b="0" i="0" dirty="0"/>
            <a:t>: Drops to ~70%.</a:t>
          </a:r>
        </a:p>
        <a:p>
          <a:pPr>
            <a:lnSpc>
              <a:spcPct val="100000"/>
            </a:lnSpc>
          </a:pPr>
          <a:r>
            <a:rPr lang="en-US" b="1" i="0" dirty="0"/>
            <a:t>Gap</a:t>
          </a:r>
          <a:r>
            <a:rPr lang="en-US" b="0" i="0" dirty="0"/>
            <a:t>: ~29% performance loss.</a:t>
          </a:r>
          <a:endParaRPr lang="en-US" dirty="0"/>
        </a:p>
      </dgm:t>
    </dgm:pt>
    <dgm:pt modelId="{3FD14DA4-1EC9-4A0A-9BB4-B2DADFB54005}" type="parTrans" cxnId="{4348434A-ED19-420A-8C4E-5B0D059DE332}">
      <dgm:prSet/>
      <dgm:spPr/>
      <dgm:t>
        <a:bodyPr/>
        <a:lstStyle/>
        <a:p>
          <a:endParaRPr lang="en-US"/>
        </a:p>
      </dgm:t>
    </dgm:pt>
    <dgm:pt modelId="{702B20DC-74F4-4CC9-969D-3066EBDDF89F}" type="sibTrans" cxnId="{4348434A-ED19-420A-8C4E-5B0D059DE332}">
      <dgm:prSet/>
      <dgm:spPr/>
      <dgm:t>
        <a:bodyPr/>
        <a:lstStyle/>
        <a:p>
          <a:endParaRPr lang="en-US"/>
        </a:p>
      </dgm:t>
    </dgm:pt>
    <dgm:pt modelId="{5A9D7E63-D7E3-44B3-ABE5-C51BAE4F5C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TriFuse-xNet</a:t>
          </a:r>
          <a:r>
            <a:rPr lang="en-US" b="1" dirty="0"/>
            <a:t> Performance</a:t>
          </a:r>
          <a:r>
            <a:rPr lang="en-US" dirty="0"/>
            <a:t>:</a:t>
          </a:r>
        </a:p>
      </dgm:t>
    </dgm:pt>
    <dgm:pt modelId="{454CBC5F-47CC-4FF2-BDFF-6A1DBB6EDDAC}" type="parTrans" cxnId="{CF78035A-8524-4AED-91BF-F8A3D0A40D94}">
      <dgm:prSet/>
      <dgm:spPr/>
      <dgm:t>
        <a:bodyPr/>
        <a:lstStyle/>
        <a:p>
          <a:endParaRPr lang="en-US"/>
        </a:p>
      </dgm:t>
    </dgm:pt>
    <dgm:pt modelId="{32A1C724-AE8B-4ADC-872C-D97F6D3862DF}" type="sibTrans" cxnId="{CF78035A-8524-4AED-91BF-F8A3D0A40D94}">
      <dgm:prSet/>
      <dgm:spPr/>
      <dgm:t>
        <a:bodyPr/>
        <a:lstStyle/>
        <a:p>
          <a:endParaRPr lang="en-US"/>
        </a:p>
      </dgm:t>
    </dgm:pt>
    <dgm:pt modelId="{68546A8D-0196-45D5-9CD2-1155E0A0A4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External Accuracy</a:t>
          </a:r>
          <a:r>
            <a:rPr lang="en-US" dirty="0"/>
            <a:t>: 83.26% (+11.18% gain).</a:t>
          </a:r>
        </a:p>
      </dgm:t>
    </dgm:pt>
    <dgm:pt modelId="{28B0249B-5306-490E-9E91-3E6878279201}" type="parTrans" cxnId="{65D75ABE-DD2B-492B-BF42-582E978D31CD}">
      <dgm:prSet/>
      <dgm:spPr/>
      <dgm:t>
        <a:bodyPr/>
        <a:lstStyle/>
        <a:p>
          <a:endParaRPr lang="en-US"/>
        </a:p>
      </dgm:t>
    </dgm:pt>
    <dgm:pt modelId="{59812407-AB80-450F-B50B-A8EA5CAAAF5F}" type="sibTrans" cxnId="{65D75ABE-DD2B-492B-BF42-582E978D31CD}">
      <dgm:prSet/>
      <dgm:spPr/>
      <dgm:t>
        <a:bodyPr/>
        <a:lstStyle/>
        <a:p>
          <a:endParaRPr lang="en-US"/>
        </a:p>
      </dgm:t>
    </dgm:pt>
    <dgm:pt modelId="{2B06E031-808B-4F1B-9CBD-5CFCD249A2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Gap</a:t>
          </a:r>
          <a:r>
            <a:rPr lang="en-US" dirty="0"/>
            <a:t>: Reduced to 15.74%.</a:t>
          </a:r>
        </a:p>
      </dgm:t>
    </dgm:pt>
    <dgm:pt modelId="{9FF8F404-4D84-4B22-AA95-108328287892}" type="parTrans" cxnId="{D5BC1D9A-E79D-4FE8-A211-940ED9F84973}">
      <dgm:prSet/>
      <dgm:spPr/>
      <dgm:t>
        <a:bodyPr/>
        <a:lstStyle/>
        <a:p>
          <a:endParaRPr lang="en-US"/>
        </a:p>
      </dgm:t>
    </dgm:pt>
    <dgm:pt modelId="{D51D321B-9D14-481A-A9EA-09FAC01626FC}" type="sibTrans" cxnId="{D5BC1D9A-E79D-4FE8-A211-940ED9F84973}">
      <dgm:prSet/>
      <dgm:spPr/>
      <dgm:t>
        <a:bodyPr/>
        <a:lstStyle/>
        <a:p>
          <a:endParaRPr lang="en-US"/>
        </a:p>
      </dgm:t>
    </dgm:pt>
    <dgm:pt modelId="{BAD722C3-A6D4-44DC-B930-05413E26F1A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We reduced the generalization gap from ~29% to 15.74%</a:t>
          </a:r>
          <a:endParaRPr lang="en-US" sz="1800" b="0" dirty="0"/>
        </a:p>
      </dgm:t>
    </dgm:pt>
    <dgm:pt modelId="{330B0585-B142-4EFA-8628-A288234472C3}" type="parTrans" cxnId="{F5D8C96E-29F3-4D35-BE97-91751E793A3B}">
      <dgm:prSet/>
      <dgm:spPr/>
      <dgm:t>
        <a:bodyPr/>
        <a:lstStyle/>
        <a:p>
          <a:endParaRPr lang="en-US"/>
        </a:p>
      </dgm:t>
    </dgm:pt>
    <dgm:pt modelId="{78EEDDEA-9D80-48EE-8E45-4369D8BBD8F9}" type="sibTrans" cxnId="{F5D8C96E-29F3-4D35-BE97-91751E793A3B}">
      <dgm:prSet/>
      <dgm:spPr/>
      <dgm:t>
        <a:bodyPr/>
        <a:lstStyle/>
        <a:p>
          <a:endParaRPr lang="en-US"/>
        </a:p>
      </dgm:t>
    </dgm:pt>
    <dgm:pt modelId="{8E3937EB-0418-443D-AD87-B38803152811}" type="pres">
      <dgm:prSet presAssocID="{81193AF2-ECF8-4A40-974F-2B408B2211D4}" presName="root" presStyleCnt="0">
        <dgm:presLayoutVars>
          <dgm:dir/>
          <dgm:resizeHandles val="exact"/>
        </dgm:presLayoutVars>
      </dgm:prSet>
      <dgm:spPr/>
    </dgm:pt>
    <dgm:pt modelId="{6960BC73-7D68-43FF-A63B-9BCDE3B6CF5D}" type="pres">
      <dgm:prSet presAssocID="{CA774F5D-EB34-4831-B2FA-4F1A361C1FDB}" presName="compNode" presStyleCnt="0"/>
      <dgm:spPr/>
    </dgm:pt>
    <dgm:pt modelId="{9640EFD7-5273-4236-91AB-EC15316C359E}" type="pres">
      <dgm:prSet presAssocID="{CA774F5D-EB34-4831-B2FA-4F1A361C1FDB}" presName="bgRect" presStyleLbl="bgShp" presStyleIdx="0" presStyleCnt="3"/>
      <dgm:spPr/>
    </dgm:pt>
    <dgm:pt modelId="{F3171681-995D-41D5-8B0B-8DF8AF2CA765}" type="pres">
      <dgm:prSet presAssocID="{CA774F5D-EB34-4831-B2FA-4F1A361C1FD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0B1C53F5-F209-4E77-9171-4CC35EBBAE9D}" type="pres">
      <dgm:prSet presAssocID="{CA774F5D-EB34-4831-B2FA-4F1A361C1FDB}" presName="spaceRect" presStyleCnt="0"/>
      <dgm:spPr/>
    </dgm:pt>
    <dgm:pt modelId="{70A3B5FB-C78A-4FD9-93D2-E9618010C493}" type="pres">
      <dgm:prSet presAssocID="{CA774F5D-EB34-4831-B2FA-4F1A361C1FDB}" presName="parTx" presStyleLbl="revTx" presStyleIdx="0" presStyleCnt="5">
        <dgm:presLayoutVars>
          <dgm:chMax val="0"/>
          <dgm:chPref val="0"/>
        </dgm:presLayoutVars>
      </dgm:prSet>
      <dgm:spPr/>
    </dgm:pt>
    <dgm:pt modelId="{9E2A40BC-02CC-4BA1-A072-C6BFB6251026}" type="pres">
      <dgm:prSet presAssocID="{CA774F5D-EB34-4831-B2FA-4F1A361C1FDB}" presName="desTx" presStyleLbl="revTx" presStyleIdx="1" presStyleCnt="5" custLinFactNeighborX="76" custLinFactNeighborY="2720">
        <dgm:presLayoutVars/>
      </dgm:prSet>
      <dgm:spPr/>
    </dgm:pt>
    <dgm:pt modelId="{1AA54052-5CB3-4714-8557-75FE3EE3A6AD}" type="pres">
      <dgm:prSet presAssocID="{5AEB302D-8C74-4002-80B2-DEB1A1D10F13}" presName="sibTrans" presStyleCnt="0"/>
      <dgm:spPr/>
    </dgm:pt>
    <dgm:pt modelId="{5FB12D5C-7009-4819-9F4D-174FFED9DF5B}" type="pres">
      <dgm:prSet presAssocID="{5A9D7E63-D7E3-44B3-ABE5-C51BAE4F5C42}" presName="compNode" presStyleCnt="0"/>
      <dgm:spPr/>
    </dgm:pt>
    <dgm:pt modelId="{573A4484-0081-4FEB-B809-110F65BD0A65}" type="pres">
      <dgm:prSet presAssocID="{5A9D7E63-D7E3-44B3-ABE5-C51BAE4F5C42}" presName="bgRect" presStyleLbl="bgShp" presStyleIdx="1" presStyleCnt="3"/>
      <dgm:spPr/>
    </dgm:pt>
    <dgm:pt modelId="{E9F7CA19-9F7A-4F0D-A9D6-D38A22C988A2}" type="pres">
      <dgm:prSet presAssocID="{5A9D7E63-D7E3-44B3-ABE5-C51BAE4F5C4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FDC26986-DAD9-4675-B154-2881BB34AB64}" type="pres">
      <dgm:prSet presAssocID="{5A9D7E63-D7E3-44B3-ABE5-C51BAE4F5C42}" presName="spaceRect" presStyleCnt="0"/>
      <dgm:spPr/>
    </dgm:pt>
    <dgm:pt modelId="{E4A9FE02-105A-46AC-A168-1A1F44045432}" type="pres">
      <dgm:prSet presAssocID="{5A9D7E63-D7E3-44B3-ABE5-C51BAE4F5C42}" presName="parTx" presStyleLbl="revTx" presStyleIdx="2" presStyleCnt="5">
        <dgm:presLayoutVars>
          <dgm:chMax val="0"/>
          <dgm:chPref val="0"/>
        </dgm:presLayoutVars>
      </dgm:prSet>
      <dgm:spPr/>
    </dgm:pt>
    <dgm:pt modelId="{75F0085B-D2C9-4F66-9B43-96CB8EDDE2CB}" type="pres">
      <dgm:prSet presAssocID="{5A9D7E63-D7E3-44B3-ABE5-C51BAE4F5C42}" presName="desTx" presStyleLbl="revTx" presStyleIdx="3" presStyleCnt="5">
        <dgm:presLayoutVars/>
      </dgm:prSet>
      <dgm:spPr/>
    </dgm:pt>
    <dgm:pt modelId="{FE6F1563-B76A-4C4D-85BD-93AF5185C94E}" type="pres">
      <dgm:prSet presAssocID="{32A1C724-AE8B-4ADC-872C-D97F6D3862DF}" presName="sibTrans" presStyleCnt="0"/>
      <dgm:spPr/>
    </dgm:pt>
    <dgm:pt modelId="{87974155-1ABF-4389-B44D-A9010A675218}" type="pres">
      <dgm:prSet presAssocID="{BAD722C3-A6D4-44DC-B930-05413E26F1AA}" presName="compNode" presStyleCnt="0"/>
      <dgm:spPr/>
    </dgm:pt>
    <dgm:pt modelId="{E4CAF574-D8B4-4BC9-B236-6681D1E32BC0}" type="pres">
      <dgm:prSet presAssocID="{BAD722C3-A6D4-44DC-B930-05413E26F1AA}" presName="bgRect" presStyleLbl="bgShp" presStyleIdx="2" presStyleCnt="3"/>
      <dgm:spPr/>
    </dgm:pt>
    <dgm:pt modelId="{91F8F77A-D42E-45A1-857A-7137C942B2F6}" type="pres">
      <dgm:prSet presAssocID="{BAD722C3-A6D4-44DC-B930-05413E26F1A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mrock"/>
        </a:ext>
      </dgm:extLst>
    </dgm:pt>
    <dgm:pt modelId="{532F600C-D8FA-4F54-97A0-DFEACBCE7019}" type="pres">
      <dgm:prSet presAssocID="{BAD722C3-A6D4-44DC-B930-05413E26F1AA}" presName="spaceRect" presStyleCnt="0"/>
      <dgm:spPr/>
    </dgm:pt>
    <dgm:pt modelId="{81D02C23-FF3D-4689-8EF8-17BEB0AA7816}" type="pres">
      <dgm:prSet presAssocID="{BAD722C3-A6D4-44DC-B930-05413E26F1A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CD28910-5C61-469C-9BBA-B059E17305F2}" type="presOf" srcId="{81193AF2-ECF8-4A40-974F-2B408B2211D4}" destId="{8E3937EB-0418-443D-AD87-B38803152811}" srcOrd="0" destOrd="0" presId="urn:microsoft.com/office/officeart/2018/2/layout/IconVerticalSolidList"/>
    <dgm:cxn modelId="{8CC8AD2C-9FC9-403F-92D1-AE10660C8A33}" type="presOf" srcId="{CA774F5D-EB34-4831-B2FA-4F1A361C1FDB}" destId="{70A3B5FB-C78A-4FD9-93D2-E9618010C493}" srcOrd="0" destOrd="0" presId="urn:microsoft.com/office/officeart/2018/2/layout/IconVerticalSolidList"/>
    <dgm:cxn modelId="{73F83C3E-25A4-4676-9A4A-7216992E692B}" type="presOf" srcId="{BAD722C3-A6D4-44DC-B930-05413E26F1AA}" destId="{81D02C23-FF3D-4689-8EF8-17BEB0AA7816}" srcOrd="0" destOrd="0" presId="urn:microsoft.com/office/officeart/2018/2/layout/IconVerticalSolidList"/>
    <dgm:cxn modelId="{1DC6A946-7948-4BCD-B843-1E520EDC5C86}" srcId="{81193AF2-ECF8-4A40-974F-2B408B2211D4}" destId="{CA774F5D-EB34-4831-B2FA-4F1A361C1FDB}" srcOrd="0" destOrd="0" parTransId="{B3DDCBA9-146A-4D8E-A5E8-7073A9E89FC7}" sibTransId="{5AEB302D-8C74-4002-80B2-DEB1A1D10F13}"/>
    <dgm:cxn modelId="{E98F8948-E62C-4EB8-AC97-CC1001A497E6}" type="presOf" srcId="{5A9D7E63-D7E3-44B3-ABE5-C51BAE4F5C42}" destId="{E4A9FE02-105A-46AC-A168-1A1F44045432}" srcOrd="0" destOrd="0" presId="urn:microsoft.com/office/officeart/2018/2/layout/IconVerticalSolidList"/>
    <dgm:cxn modelId="{4348434A-ED19-420A-8C4E-5B0D059DE332}" srcId="{CA774F5D-EB34-4831-B2FA-4F1A361C1FDB}" destId="{84395053-4209-42CF-A92C-80680F953ABA}" srcOrd="1" destOrd="0" parTransId="{3FD14DA4-1EC9-4A0A-9BB4-B2DADFB54005}" sibTransId="{702B20DC-74F4-4CC9-969D-3066EBDDF89F}"/>
    <dgm:cxn modelId="{F5D8C96E-29F3-4D35-BE97-91751E793A3B}" srcId="{81193AF2-ECF8-4A40-974F-2B408B2211D4}" destId="{BAD722C3-A6D4-44DC-B930-05413E26F1AA}" srcOrd="2" destOrd="0" parTransId="{330B0585-B142-4EFA-8628-A288234472C3}" sibTransId="{78EEDDEA-9D80-48EE-8E45-4369D8BBD8F9}"/>
    <dgm:cxn modelId="{E818C470-5377-456F-8C9D-335211DCE40E}" type="presOf" srcId="{68546A8D-0196-45D5-9CD2-1155E0A0A444}" destId="{75F0085B-D2C9-4F66-9B43-96CB8EDDE2CB}" srcOrd="0" destOrd="0" presId="urn:microsoft.com/office/officeart/2018/2/layout/IconVerticalSolidList"/>
    <dgm:cxn modelId="{CF78035A-8524-4AED-91BF-F8A3D0A40D94}" srcId="{81193AF2-ECF8-4A40-974F-2B408B2211D4}" destId="{5A9D7E63-D7E3-44B3-ABE5-C51BAE4F5C42}" srcOrd="1" destOrd="0" parTransId="{454CBC5F-47CC-4FF2-BDFF-6A1DBB6EDDAC}" sibTransId="{32A1C724-AE8B-4ADC-872C-D97F6D3862DF}"/>
    <dgm:cxn modelId="{D5BC1D9A-E79D-4FE8-A211-940ED9F84973}" srcId="{5A9D7E63-D7E3-44B3-ABE5-C51BAE4F5C42}" destId="{2B06E031-808B-4F1B-9CBD-5CFCD249A238}" srcOrd="1" destOrd="0" parTransId="{9FF8F404-4D84-4B22-AA95-108328287892}" sibTransId="{D51D321B-9D14-481A-A9EA-09FAC01626FC}"/>
    <dgm:cxn modelId="{D2DF35AD-AF7F-41D6-AFA7-052C8F0C1A08}" type="presOf" srcId="{ED3EEBA2-F5E4-4A72-BA92-0A87C479D565}" destId="{9E2A40BC-02CC-4BA1-A072-C6BFB6251026}" srcOrd="0" destOrd="0" presId="urn:microsoft.com/office/officeart/2018/2/layout/IconVerticalSolidList"/>
    <dgm:cxn modelId="{14C884B1-E78B-4B3E-862E-422BC0CF37C9}" srcId="{CA774F5D-EB34-4831-B2FA-4F1A361C1FDB}" destId="{ED3EEBA2-F5E4-4A72-BA92-0A87C479D565}" srcOrd="0" destOrd="0" parTransId="{FE0F3069-8E0E-4BB6-B5C2-38F568AA2782}" sibTransId="{53C0D0D8-B6A7-4D01-B177-4DA2F959C879}"/>
    <dgm:cxn modelId="{65D75ABE-DD2B-492B-BF42-582E978D31CD}" srcId="{5A9D7E63-D7E3-44B3-ABE5-C51BAE4F5C42}" destId="{68546A8D-0196-45D5-9CD2-1155E0A0A444}" srcOrd="0" destOrd="0" parTransId="{28B0249B-5306-490E-9E91-3E6878279201}" sibTransId="{59812407-AB80-450F-B50B-A8EA5CAAAF5F}"/>
    <dgm:cxn modelId="{DEB0E0CF-2FFE-49CF-AD63-55D5FD3A0174}" type="presOf" srcId="{84395053-4209-42CF-A92C-80680F953ABA}" destId="{9E2A40BC-02CC-4BA1-A072-C6BFB6251026}" srcOrd="0" destOrd="1" presId="urn:microsoft.com/office/officeart/2018/2/layout/IconVerticalSolidList"/>
    <dgm:cxn modelId="{0B3DE9DA-6C84-4373-AD11-8D5D81369573}" type="presOf" srcId="{2B06E031-808B-4F1B-9CBD-5CFCD249A238}" destId="{75F0085B-D2C9-4F66-9B43-96CB8EDDE2CB}" srcOrd="0" destOrd="1" presId="urn:microsoft.com/office/officeart/2018/2/layout/IconVerticalSolidList"/>
    <dgm:cxn modelId="{A8481F6E-EA71-482D-B962-374E82C8B20C}" type="presParOf" srcId="{8E3937EB-0418-443D-AD87-B38803152811}" destId="{6960BC73-7D68-43FF-A63B-9BCDE3B6CF5D}" srcOrd="0" destOrd="0" presId="urn:microsoft.com/office/officeart/2018/2/layout/IconVerticalSolidList"/>
    <dgm:cxn modelId="{8F34C895-8A43-4344-B0B6-83681A5CC195}" type="presParOf" srcId="{6960BC73-7D68-43FF-A63B-9BCDE3B6CF5D}" destId="{9640EFD7-5273-4236-91AB-EC15316C359E}" srcOrd="0" destOrd="0" presId="urn:microsoft.com/office/officeart/2018/2/layout/IconVerticalSolidList"/>
    <dgm:cxn modelId="{1256C775-3ADB-4D55-B159-A15302752A76}" type="presParOf" srcId="{6960BC73-7D68-43FF-A63B-9BCDE3B6CF5D}" destId="{F3171681-995D-41D5-8B0B-8DF8AF2CA765}" srcOrd="1" destOrd="0" presId="urn:microsoft.com/office/officeart/2018/2/layout/IconVerticalSolidList"/>
    <dgm:cxn modelId="{1759195B-E09C-4A69-8F21-99397EF26B68}" type="presParOf" srcId="{6960BC73-7D68-43FF-A63B-9BCDE3B6CF5D}" destId="{0B1C53F5-F209-4E77-9171-4CC35EBBAE9D}" srcOrd="2" destOrd="0" presId="urn:microsoft.com/office/officeart/2018/2/layout/IconVerticalSolidList"/>
    <dgm:cxn modelId="{D503B719-FD6F-4733-A6E4-AAB0C3D19494}" type="presParOf" srcId="{6960BC73-7D68-43FF-A63B-9BCDE3B6CF5D}" destId="{70A3B5FB-C78A-4FD9-93D2-E9618010C493}" srcOrd="3" destOrd="0" presId="urn:microsoft.com/office/officeart/2018/2/layout/IconVerticalSolidList"/>
    <dgm:cxn modelId="{7D70DEC4-BA80-4AC3-9441-5FCE8850F398}" type="presParOf" srcId="{6960BC73-7D68-43FF-A63B-9BCDE3B6CF5D}" destId="{9E2A40BC-02CC-4BA1-A072-C6BFB6251026}" srcOrd="4" destOrd="0" presId="urn:microsoft.com/office/officeart/2018/2/layout/IconVerticalSolidList"/>
    <dgm:cxn modelId="{5232C81D-EB69-4B2B-B927-445085446D7D}" type="presParOf" srcId="{8E3937EB-0418-443D-AD87-B38803152811}" destId="{1AA54052-5CB3-4714-8557-75FE3EE3A6AD}" srcOrd="1" destOrd="0" presId="urn:microsoft.com/office/officeart/2018/2/layout/IconVerticalSolidList"/>
    <dgm:cxn modelId="{DB119C49-FCA5-4DF1-A146-22D8AAA6739B}" type="presParOf" srcId="{8E3937EB-0418-443D-AD87-B38803152811}" destId="{5FB12D5C-7009-4819-9F4D-174FFED9DF5B}" srcOrd="2" destOrd="0" presId="urn:microsoft.com/office/officeart/2018/2/layout/IconVerticalSolidList"/>
    <dgm:cxn modelId="{B8D06A19-6014-44CA-A96A-A73780D06A59}" type="presParOf" srcId="{5FB12D5C-7009-4819-9F4D-174FFED9DF5B}" destId="{573A4484-0081-4FEB-B809-110F65BD0A65}" srcOrd="0" destOrd="0" presId="urn:microsoft.com/office/officeart/2018/2/layout/IconVerticalSolidList"/>
    <dgm:cxn modelId="{6F96EAD3-E97F-4D39-A779-C4CC69E7B8AB}" type="presParOf" srcId="{5FB12D5C-7009-4819-9F4D-174FFED9DF5B}" destId="{E9F7CA19-9F7A-4F0D-A9D6-D38A22C988A2}" srcOrd="1" destOrd="0" presId="urn:microsoft.com/office/officeart/2018/2/layout/IconVerticalSolidList"/>
    <dgm:cxn modelId="{6FD0F2FA-D59C-4A3D-93A7-7038466A2FCD}" type="presParOf" srcId="{5FB12D5C-7009-4819-9F4D-174FFED9DF5B}" destId="{FDC26986-DAD9-4675-B154-2881BB34AB64}" srcOrd="2" destOrd="0" presId="urn:microsoft.com/office/officeart/2018/2/layout/IconVerticalSolidList"/>
    <dgm:cxn modelId="{70E4F41E-7EB4-45BB-85BB-7A59E85D3A20}" type="presParOf" srcId="{5FB12D5C-7009-4819-9F4D-174FFED9DF5B}" destId="{E4A9FE02-105A-46AC-A168-1A1F44045432}" srcOrd="3" destOrd="0" presId="urn:microsoft.com/office/officeart/2018/2/layout/IconVerticalSolidList"/>
    <dgm:cxn modelId="{4190C836-7573-4AB3-A1FE-DB3894992889}" type="presParOf" srcId="{5FB12D5C-7009-4819-9F4D-174FFED9DF5B}" destId="{75F0085B-D2C9-4F66-9B43-96CB8EDDE2CB}" srcOrd="4" destOrd="0" presId="urn:microsoft.com/office/officeart/2018/2/layout/IconVerticalSolidList"/>
    <dgm:cxn modelId="{7F81997E-5FB6-467A-BA89-819F2682A452}" type="presParOf" srcId="{8E3937EB-0418-443D-AD87-B38803152811}" destId="{FE6F1563-B76A-4C4D-85BD-93AF5185C94E}" srcOrd="3" destOrd="0" presId="urn:microsoft.com/office/officeart/2018/2/layout/IconVerticalSolidList"/>
    <dgm:cxn modelId="{ACC5661E-0DE4-40F8-8DB7-425F34B22A51}" type="presParOf" srcId="{8E3937EB-0418-443D-AD87-B38803152811}" destId="{87974155-1ABF-4389-B44D-A9010A675218}" srcOrd="4" destOrd="0" presId="urn:microsoft.com/office/officeart/2018/2/layout/IconVerticalSolidList"/>
    <dgm:cxn modelId="{C362C327-DAED-4BA9-A0FA-CD7C182A6671}" type="presParOf" srcId="{87974155-1ABF-4389-B44D-A9010A675218}" destId="{E4CAF574-D8B4-4BC9-B236-6681D1E32BC0}" srcOrd="0" destOrd="0" presId="urn:microsoft.com/office/officeart/2018/2/layout/IconVerticalSolidList"/>
    <dgm:cxn modelId="{6FFAB890-6705-4CD9-A973-BE23EBAB722D}" type="presParOf" srcId="{87974155-1ABF-4389-B44D-A9010A675218}" destId="{91F8F77A-D42E-45A1-857A-7137C942B2F6}" srcOrd="1" destOrd="0" presId="urn:microsoft.com/office/officeart/2018/2/layout/IconVerticalSolidList"/>
    <dgm:cxn modelId="{2AEFDFBA-D599-4106-A0A1-77DC203E55A3}" type="presParOf" srcId="{87974155-1ABF-4389-B44D-A9010A675218}" destId="{532F600C-D8FA-4F54-97A0-DFEACBCE7019}" srcOrd="2" destOrd="0" presId="urn:microsoft.com/office/officeart/2018/2/layout/IconVerticalSolidList"/>
    <dgm:cxn modelId="{B593858A-BC61-4EA5-88F3-DC87771E08ED}" type="presParOf" srcId="{87974155-1ABF-4389-B44D-A9010A675218}" destId="{81D02C23-FF3D-4689-8EF8-17BEB0AA78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40EFD7-5273-4236-91AB-EC15316C359E}">
      <dsp:nvSpPr>
        <dsp:cNvPr id="0" name=""/>
        <dsp:cNvSpPr/>
      </dsp:nvSpPr>
      <dsp:spPr>
        <a:xfrm>
          <a:off x="0" y="2197"/>
          <a:ext cx="6400999" cy="10276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171681-995D-41D5-8B0B-8DF8AF2CA765}">
      <dsp:nvSpPr>
        <dsp:cNvPr id="0" name=""/>
        <dsp:cNvSpPr/>
      </dsp:nvSpPr>
      <dsp:spPr>
        <a:xfrm>
          <a:off x="310867" y="233421"/>
          <a:ext cx="565214" cy="5652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3B5FB-C78A-4FD9-93D2-E9618010C493}">
      <dsp:nvSpPr>
        <dsp:cNvPr id="0" name=""/>
        <dsp:cNvSpPr/>
      </dsp:nvSpPr>
      <dsp:spPr>
        <a:xfrm>
          <a:off x="1186949" y="2197"/>
          <a:ext cx="2880449" cy="1027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761" tIns="108761" rIns="108761" bIns="10876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Baseline Performance</a:t>
          </a:r>
          <a:r>
            <a:rPr lang="en-US" sz="2500" b="0" i="0" kern="1200"/>
            <a:t>: </a:t>
          </a:r>
          <a:endParaRPr lang="en-US" sz="2500" kern="1200"/>
        </a:p>
      </dsp:txBody>
      <dsp:txXfrm>
        <a:off x="1186949" y="2197"/>
        <a:ext cx="2880449" cy="1027661"/>
      </dsp:txXfrm>
    </dsp:sp>
    <dsp:sp modelId="{9E2A40BC-02CC-4BA1-A072-C6BFB6251026}">
      <dsp:nvSpPr>
        <dsp:cNvPr id="0" name=""/>
        <dsp:cNvSpPr/>
      </dsp:nvSpPr>
      <dsp:spPr>
        <a:xfrm>
          <a:off x="4068559" y="30149"/>
          <a:ext cx="2332439" cy="1027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761" tIns="108761" rIns="108761" bIns="108761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Internal Accuracy</a:t>
          </a:r>
          <a:r>
            <a:rPr lang="en-US" sz="1100" b="0" i="0" kern="1200" dirty="0"/>
            <a:t>: &gt;99% (High 	Overfitting Risk).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External Accuracy</a:t>
          </a:r>
          <a:r>
            <a:rPr lang="en-US" sz="1100" b="0" i="0" kern="1200" dirty="0"/>
            <a:t>: Drops to ~70%.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Gap</a:t>
          </a:r>
          <a:r>
            <a:rPr lang="en-US" sz="1100" b="0" i="0" kern="1200" dirty="0"/>
            <a:t>: ~29% performance loss.</a:t>
          </a:r>
          <a:endParaRPr lang="en-US" sz="1100" kern="1200" dirty="0"/>
        </a:p>
      </dsp:txBody>
      <dsp:txXfrm>
        <a:off x="4068559" y="30149"/>
        <a:ext cx="2332439" cy="1027661"/>
      </dsp:txXfrm>
    </dsp:sp>
    <dsp:sp modelId="{573A4484-0081-4FEB-B809-110F65BD0A65}">
      <dsp:nvSpPr>
        <dsp:cNvPr id="0" name=""/>
        <dsp:cNvSpPr/>
      </dsp:nvSpPr>
      <dsp:spPr>
        <a:xfrm>
          <a:off x="0" y="1286775"/>
          <a:ext cx="6400999" cy="10276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F7CA19-9F7A-4F0D-A9D6-D38A22C988A2}">
      <dsp:nvSpPr>
        <dsp:cNvPr id="0" name=""/>
        <dsp:cNvSpPr/>
      </dsp:nvSpPr>
      <dsp:spPr>
        <a:xfrm>
          <a:off x="310867" y="1517998"/>
          <a:ext cx="565214" cy="5652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9FE02-105A-46AC-A168-1A1F44045432}">
      <dsp:nvSpPr>
        <dsp:cNvPr id="0" name=""/>
        <dsp:cNvSpPr/>
      </dsp:nvSpPr>
      <dsp:spPr>
        <a:xfrm>
          <a:off x="1186949" y="1286775"/>
          <a:ext cx="2880449" cy="1027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761" tIns="108761" rIns="108761" bIns="10876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 err="1"/>
            <a:t>TriFuse-xNet</a:t>
          </a:r>
          <a:r>
            <a:rPr lang="en-US" sz="2500" b="1" kern="1200" dirty="0"/>
            <a:t> Performance</a:t>
          </a:r>
          <a:r>
            <a:rPr lang="en-US" sz="2500" kern="1200" dirty="0"/>
            <a:t>:</a:t>
          </a:r>
        </a:p>
      </dsp:txBody>
      <dsp:txXfrm>
        <a:off x="1186949" y="1286775"/>
        <a:ext cx="2880449" cy="1027661"/>
      </dsp:txXfrm>
    </dsp:sp>
    <dsp:sp modelId="{75F0085B-D2C9-4F66-9B43-96CB8EDDE2CB}">
      <dsp:nvSpPr>
        <dsp:cNvPr id="0" name=""/>
        <dsp:cNvSpPr/>
      </dsp:nvSpPr>
      <dsp:spPr>
        <a:xfrm>
          <a:off x="4067399" y="1286775"/>
          <a:ext cx="2332439" cy="1027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761" tIns="108761" rIns="108761" bIns="108761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External Accuracy</a:t>
          </a:r>
          <a:r>
            <a:rPr lang="en-US" sz="1100" kern="1200" dirty="0"/>
            <a:t>: 83.26% (+11.18% gain).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Gap</a:t>
          </a:r>
          <a:r>
            <a:rPr lang="en-US" sz="1100" kern="1200" dirty="0"/>
            <a:t>: Reduced to 15.74%.</a:t>
          </a:r>
        </a:p>
      </dsp:txBody>
      <dsp:txXfrm>
        <a:off x="4067399" y="1286775"/>
        <a:ext cx="2332439" cy="1027661"/>
      </dsp:txXfrm>
    </dsp:sp>
    <dsp:sp modelId="{E4CAF574-D8B4-4BC9-B236-6681D1E32BC0}">
      <dsp:nvSpPr>
        <dsp:cNvPr id="0" name=""/>
        <dsp:cNvSpPr/>
      </dsp:nvSpPr>
      <dsp:spPr>
        <a:xfrm>
          <a:off x="0" y="2571352"/>
          <a:ext cx="6400999" cy="10276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F8F77A-D42E-45A1-857A-7137C942B2F6}">
      <dsp:nvSpPr>
        <dsp:cNvPr id="0" name=""/>
        <dsp:cNvSpPr/>
      </dsp:nvSpPr>
      <dsp:spPr>
        <a:xfrm>
          <a:off x="310867" y="2802576"/>
          <a:ext cx="565214" cy="5652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02C23-FF3D-4689-8EF8-17BEB0AA7816}">
      <dsp:nvSpPr>
        <dsp:cNvPr id="0" name=""/>
        <dsp:cNvSpPr/>
      </dsp:nvSpPr>
      <dsp:spPr>
        <a:xfrm>
          <a:off x="1186949" y="2571352"/>
          <a:ext cx="5212889" cy="1027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761" tIns="108761" rIns="108761" bIns="10876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 reduced the generalization gap from ~29% to 15.74%</a:t>
          </a:r>
          <a:endParaRPr lang="en-US" sz="1800" b="0" kern="1200" dirty="0"/>
        </a:p>
      </dsp:txBody>
      <dsp:txXfrm>
        <a:off x="1186949" y="2571352"/>
        <a:ext cx="5212889" cy="10276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641AD-21F8-4A93-A6D9-569866290A8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EF84A5-A0A7-49E9-B2F1-648999F18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71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evening, everyone, I am Asmaul Hossain Akash, welcome to my presentation based on deep learning in medical imaging. In this presentation, I am going to introduce a new hybrid fusion model named </a:t>
            </a:r>
            <a:r>
              <a:rPr lang="en-US" b="1" dirty="0" err="1"/>
              <a:t>TriFuse-xNet</a:t>
            </a:r>
            <a:r>
              <a:rPr lang="en-US" dirty="0"/>
              <a:t>, which bridges the generalization gap in breast cancer histopathology via explainable hybrid fusion. So, let's get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00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32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let's look at </a:t>
            </a:r>
            <a:r>
              <a:rPr lang="en-US" b="1" dirty="0"/>
              <a:t>The Clinical Bottleneck</a:t>
            </a:r>
            <a:r>
              <a:rPr lang="en-US" dirty="0"/>
              <a:t>. While Histopathology remains the gold standard for cancer detection, but it is manual, subjective, and incredibly time-intensive. Our goal is not to replace pathologists, but to create an AI assistant that reduces their workload and variability.</a:t>
            </a:r>
          </a:p>
          <a:p>
            <a:endParaRPr lang="en-US" dirty="0"/>
          </a:p>
          <a:p>
            <a:r>
              <a:rPr lang="en-US" dirty="0"/>
              <a:t>However, we face a </a:t>
            </a:r>
            <a:r>
              <a:rPr lang="en-US" b="1" dirty="0"/>
              <a:t>Critical Failure in Current AI</a:t>
            </a:r>
            <a:r>
              <a:rPr lang="en-US" dirty="0"/>
              <a:t>. If you look at the diagram on the right, you see the </a:t>
            </a:r>
            <a:r>
              <a:rPr lang="en-US" b="1" dirty="0"/>
              <a:t>'Black Box Problem'</a:t>
            </a:r>
            <a:r>
              <a:rPr lang="en-US" dirty="0"/>
              <a:t>. Most state-of-the-art models take an input and give an output, but the process in between remains hidden. This creates a </a:t>
            </a:r>
            <a:r>
              <a:rPr lang="en-US" b="1" dirty="0"/>
              <a:t>Trust Deficit</a:t>
            </a:r>
            <a:r>
              <a:rPr lang="en-US" dirty="0"/>
              <a:t>—clinicians cannot trust a diagnosis if the model offers no explanation.</a:t>
            </a:r>
          </a:p>
          <a:p>
            <a:endParaRPr lang="en-US" b="1" dirty="0"/>
          </a:p>
          <a:p>
            <a:r>
              <a:rPr lang="en-US" dirty="0"/>
              <a:t>Furthermore, there is a </a:t>
            </a:r>
            <a:r>
              <a:rPr lang="en-US" b="1" dirty="0"/>
              <a:t>Generalization Gap:</a:t>
            </a:r>
            <a:r>
              <a:rPr lang="en-US" dirty="0"/>
              <a:t> We often see models achieve 99% accuracy in the lab, but when tested on data from a different hospital, their performance crashes. This gap between 'Lab Accuracy' and real-world performance is dangerous.</a:t>
            </a:r>
          </a:p>
          <a:p>
            <a:r>
              <a:rPr lang="en-US" b="1" dirty="0"/>
              <a:t>This brings us to our objective:</a:t>
            </a:r>
            <a:r>
              <a:rPr lang="en-US" dirty="0"/>
              <a:t> We need to move beyond simple accuracy metrics. Our research aims to build a system that is </a:t>
            </a:r>
            <a:r>
              <a:rPr lang="en-US" b="1" dirty="0"/>
              <a:t>Clinically Robust</a:t>
            </a:r>
            <a:r>
              <a:rPr lang="en-US" dirty="0"/>
              <a:t>. It must be </a:t>
            </a:r>
            <a:r>
              <a:rPr lang="en-US" b="1" dirty="0"/>
              <a:t>Transparent</a:t>
            </a:r>
            <a:r>
              <a:rPr lang="en-US" dirty="0"/>
              <a:t>—showing us </a:t>
            </a:r>
            <a:r>
              <a:rPr lang="en-US" i="1" dirty="0"/>
              <a:t>where</a:t>
            </a:r>
            <a:r>
              <a:rPr lang="en-US" dirty="0"/>
              <a:t> it is looking—and </a:t>
            </a:r>
            <a:r>
              <a:rPr lang="en-US" b="1" dirty="0"/>
              <a:t>Transferable</a:t>
            </a:r>
            <a:r>
              <a:rPr lang="en-US" dirty="0"/>
              <a:t>, meaning it works reliably across different datasets and hospitals.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61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related works we can see significant gaps remain in the current literature.</a:t>
            </a:r>
          </a:p>
          <a:p>
            <a:r>
              <a:rPr lang="en-US" b="1" dirty="0"/>
              <a:t>First, we have standard CNNs</a:t>
            </a:r>
            <a:r>
              <a:rPr lang="en-US" dirty="0"/>
              <a:t> like </a:t>
            </a:r>
            <a:r>
              <a:rPr lang="en-US" dirty="0" err="1"/>
              <a:t>ResNet</a:t>
            </a:r>
            <a:r>
              <a:rPr lang="en-US" dirty="0"/>
              <a:t> and VGG. While papers by Rafiq and others show they achieve high internal accuracy, they often fail to </a:t>
            </a:r>
            <a:r>
              <a:rPr lang="en-US" b="1" dirty="0"/>
              <a:t>generalize</a:t>
            </a:r>
            <a:r>
              <a:rPr lang="en-US" dirty="0"/>
              <a:t> when tested on new data.</a:t>
            </a:r>
          </a:p>
          <a:p>
            <a:r>
              <a:rPr lang="en-US" b="1" dirty="0"/>
              <a:t>Second, we have Vision Transformers.</a:t>
            </a:r>
            <a:r>
              <a:rPr lang="en-US" dirty="0"/>
              <a:t> As Gella and others demonstrated that these are powerful, but they are incredibly </a:t>
            </a:r>
            <a:r>
              <a:rPr lang="en-US" b="1" dirty="0"/>
              <a:t>data-hungry and computationally expensive</a:t>
            </a:r>
            <a:r>
              <a:rPr lang="en-US" dirty="0"/>
              <a:t>, making them difficult to deploy in clinical settings.</a:t>
            </a:r>
          </a:p>
          <a:p>
            <a:r>
              <a:rPr lang="en-US" b="1" dirty="0"/>
              <a:t>Finally, existing hybrid models</a:t>
            </a:r>
            <a:r>
              <a:rPr lang="en-US" dirty="0"/>
              <a:t> often skip the hardest test: that is </a:t>
            </a:r>
            <a:r>
              <a:rPr lang="en-US" b="1" dirty="0"/>
              <a:t>external validation</a:t>
            </a:r>
            <a:r>
              <a:rPr lang="en-US" dirty="0"/>
              <a:t>.</a:t>
            </a:r>
          </a:p>
          <a:p>
            <a:r>
              <a:rPr lang="en-US" b="1" dirty="0"/>
              <a:t>This leaves a clear Unsolved Gap:</a:t>
            </a:r>
            <a:r>
              <a:rPr lang="en-US" dirty="0"/>
              <a:t> The field is flooded with papers focusing on 'Lab Metrics.' What is missing is a single framework that is simultaneously </a:t>
            </a:r>
            <a:r>
              <a:rPr lang="en-US" b="1" dirty="0"/>
              <a:t>Accurate</a:t>
            </a:r>
            <a:r>
              <a:rPr lang="en-US" dirty="0"/>
              <a:t>, </a:t>
            </a:r>
            <a:r>
              <a:rPr lang="en-US" b="1" dirty="0"/>
              <a:t>Generalizable</a:t>
            </a:r>
            <a:r>
              <a:rPr lang="en-US" dirty="0"/>
              <a:t> to new hospitals, and </a:t>
            </a:r>
            <a:r>
              <a:rPr lang="en-US" b="1" dirty="0"/>
              <a:t>Explainable</a:t>
            </a:r>
            <a:r>
              <a:rPr lang="en-US" dirty="0"/>
              <a:t> to doctors. That is the specific gap that our work addresses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66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the gaps we identified, we designed a comprehensive four-stage pipeline.</a:t>
            </a:r>
          </a:p>
          <a:p>
            <a:r>
              <a:rPr lang="en-US" b="1" dirty="0"/>
              <a:t>Stage 1</a:t>
            </a:r>
            <a:r>
              <a:rPr lang="en-US" dirty="0"/>
              <a:t> involved preparing two distinct datasets: one for training and a completely separate one for 'zero-shot' testing.</a:t>
            </a:r>
          </a:p>
          <a:p>
            <a:r>
              <a:rPr lang="en-US" b="1" dirty="0"/>
              <a:t>In Stage 2</a:t>
            </a:r>
            <a:r>
              <a:rPr lang="en-US" dirty="0"/>
              <a:t>, we didn't rely on a single model. Instead, we implemented parallel feature extraction using multiple architectures.</a:t>
            </a:r>
          </a:p>
          <a:p>
            <a:r>
              <a:rPr lang="en-US" b="1" dirty="0"/>
              <a:t>Stage 3</a:t>
            </a:r>
            <a:r>
              <a:rPr lang="en-US" dirty="0"/>
              <a:t> is our core contribution: a Hybrid Fusion mechanism that concatenates these features before classification.</a:t>
            </a:r>
          </a:p>
          <a:p>
            <a:r>
              <a:rPr lang="en-US" b="1" dirty="0"/>
              <a:t>Finally, Stage 4</a:t>
            </a:r>
            <a:r>
              <a:rPr lang="en-US" dirty="0"/>
              <a:t> focused on diverse evaluation, using both XAI analysis and external testing to prove robustness."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98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look at the core of our solution: </a:t>
            </a:r>
            <a:r>
              <a:rPr lang="en-US" b="1" dirty="0" err="1"/>
              <a:t>TriFuse-xNet</a:t>
            </a:r>
            <a:r>
              <a:rPr lang="en-US" dirty="0"/>
              <a:t>. We selected three specific backbones for their complementary strengths:</a:t>
            </a:r>
          </a:p>
          <a:p>
            <a:r>
              <a:rPr lang="en-US" b="1" dirty="0"/>
              <a:t>VGG16</a:t>
            </a:r>
            <a:r>
              <a:rPr lang="en-US" dirty="0"/>
              <a:t> captures the low-level textural patterns of the tissue.</a:t>
            </a:r>
          </a:p>
          <a:p>
            <a:r>
              <a:rPr lang="en-US" b="1" dirty="0"/>
              <a:t>DenseNet121</a:t>
            </a:r>
            <a:r>
              <a:rPr lang="en-US" dirty="0"/>
              <a:t> provides deep semantic features through efficient feature reuse.</a:t>
            </a:r>
          </a:p>
          <a:p>
            <a:r>
              <a:rPr lang="en-US" b="1" dirty="0" err="1"/>
              <a:t>Xception</a:t>
            </a:r>
            <a:r>
              <a:rPr lang="en-US" dirty="0"/>
              <a:t> handles spatial correlations using </a:t>
            </a:r>
            <a:r>
              <a:rPr lang="en-US" dirty="0" err="1"/>
              <a:t>depthwise</a:t>
            </a:r>
            <a:r>
              <a:rPr lang="en-US" dirty="0"/>
              <a:t> separable convolutions. By fusing these diverse 'viewpoints,' our model stops relying on specific artifacts and learns a truly robust representation of the cancer.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46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Our experiment We trained the model strictly on the </a:t>
            </a:r>
            <a:r>
              <a:rPr lang="en-US" b="1" dirty="0"/>
              <a:t>Multi Cancer Dataset</a:t>
            </a:r>
            <a:r>
              <a:rPr lang="en-US" dirty="0"/>
              <a:t> using 5-fold cross-validation. However, for testing and validating, we did </a:t>
            </a:r>
            <a:r>
              <a:rPr lang="en-US" b="1" dirty="0"/>
              <a:t>not</a:t>
            </a:r>
            <a:r>
              <a:rPr lang="en-US" dirty="0"/>
              <a:t> use the same source. Instead, we used the </a:t>
            </a:r>
            <a:r>
              <a:rPr lang="en-US" b="1" dirty="0" err="1"/>
              <a:t>BreaKHis</a:t>
            </a:r>
            <a:r>
              <a:rPr lang="en-US" dirty="0"/>
              <a:t> dataset in a </a:t>
            </a:r>
            <a:r>
              <a:rPr lang="en-US" b="1" dirty="0"/>
              <a:t>'Zero-Shot' setting</a:t>
            </a:r>
            <a:r>
              <a:rPr lang="en-US" dirty="0"/>
              <a:t>. This means the model </a:t>
            </a:r>
            <a:r>
              <a:rPr lang="en-US" b="1" dirty="0"/>
              <a:t>never</a:t>
            </a:r>
            <a:r>
              <a:rPr lang="en-US" dirty="0"/>
              <a:t> saw this data during training. This is the ultimate test of whether a model has truly learned pathology or just memorized a specific dataset's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71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critical finding of our research. If you look at the </a:t>
            </a:r>
            <a:r>
              <a:rPr lang="en-US" b="1" dirty="0"/>
              <a:t>Blue bars</a:t>
            </a:r>
            <a:r>
              <a:rPr lang="en-US" dirty="0"/>
              <a:t>, you see that every model performs nearly perfectly on internal data. This is misleading. The </a:t>
            </a:r>
            <a:r>
              <a:rPr lang="en-US" b="1" dirty="0"/>
              <a:t>Green bars</a:t>
            </a:r>
            <a:r>
              <a:rPr lang="en-US" dirty="0"/>
              <a:t> reveal the truth. When exposed to external data, standard baselines like </a:t>
            </a:r>
            <a:r>
              <a:rPr lang="en-US" dirty="0" err="1"/>
              <a:t>ResNet</a:t>
            </a:r>
            <a:r>
              <a:rPr lang="en-US" dirty="0"/>
              <a:t> and VGG crash, losing nearly </a:t>
            </a:r>
            <a:r>
              <a:rPr lang="en-US" b="1" dirty="0"/>
              <a:t>30%</a:t>
            </a:r>
            <a:r>
              <a:rPr lang="en-US" dirty="0"/>
              <a:t> of their accuracy. </a:t>
            </a:r>
            <a:r>
              <a:rPr lang="en-US" b="1" dirty="0" err="1"/>
              <a:t>TriFuse-xNet</a:t>
            </a:r>
            <a:r>
              <a:rPr lang="en-US" dirty="0"/>
              <a:t>, holds strong. We achieved an external accuracy of </a:t>
            </a:r>
            <a:r>
              <a:rPr lang="en-US" b="1" dirty="0"/>
              <a:t>83.26%</a:t>
            </a:r>
            <a:r>
              <a:rPr lang="en-US" dirty="0"/>
              <a:t>, effectively cutting the generalization gap in half and outperforming the best baseline by over </a:t>
            </a:r>
            <a:r>
              <a:rPr lang="en-US" b="1" dirty="0"/>
              <a:t>11%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7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CAB37-3801-D05A-9561-42203C21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5A2423-FAD7-E1E7-C75D-AF6AA94D5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3FCCA-DE08-637C-DBDF-A0AF6B91D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really understand the </a:t>
            </a:r>
            <a:r>
              <a:rPr lang="en-US" i="1" dirty="0"/>
              <a:t>quality</a:t>
            </a:r>
            <a:r>
              <a:rPr lang="en-US" dirty="0"/>
              <a:t> of our model's predictions, let's look at the specific metrics on the external dataset.</a:t>
            </a:r>
          </a:p>
          <a:p>
            <a:r>
              <a:rPr lang="en-US" b="1" dirty="0"/>
              <a:t>First, on the left, we have the ROC Curve.</a:t>
            </a:r>
            <a:r>
              <a:rPr lang="en-US" dirty="0"/>
              <a:t> Please focus on the solid </a:t>
            </a:r>
            <a:r>
              <a:rPr lang="en-US" b="1" dirty="0"/>
              <a:t>Red line</a:t>
            </a:r>
            <a:r>
              <a:rPr lang="en-US" dirty="0"/>
              <a:t>. This represents our </a:t>
            </a:r>
            <a:r>
              <a:rPr lang="en-US" dirty="0" err="1"/>
              <a:t>TriFuse-xNet</a:t>
            </a:r>
            <a:r>
              <a:rPr lang="en-US" dirty="0"/>
              <a:t>. Notice how it </a:t>
            </a:r>
            <a:r>
              <a:rPr lang="en-US" dirty="0" err="1"/>
              <a:t>achives</a:t>
            </a:r>
            <a:r>
              <a:rPr lang="en-US" dirty="0"/>
              <a:t>  significantly higher than the dashed blue line, which represents the best baseline, DenseNet121. We achieved an AUC of </a:t>
            </a:r>
            <a:r>
              <a:rPr lang="en-US" b="1" dirty="0"/>
              <a:t>0.89</a:t>
            </a:r>
            <a:r>
              <a:rPr lang="en-US" dirty="0"/>
              <a:t> compared to their 0.78, which statistically proves our model has superior sensitivity and specificity.</a:t>
            </a:r>
          </a:p>
          <a:p>
            <a:r>
              <a:rPr lang="en-US" b="1" dirty="0"/>
              <a:t>On the right, the Confusion Matrix</a:t>
            </a:r>
            <a:r>
              <a:rPr lang="en-US" dirty="0"/>
              <a:t> validates this performance in absolute numbers. Despite this being 'zero-shot' external data, the model correctly identified </a:t>
            </a:r>
            <a:r>
              <a:rPr lang="en-US" b="1" dirty="0"/>
              <a:t>5,484 malignant cases</a:t>
            </a:r>
            <a:r>
              <a:rPr lang="en-US" dirty="0"/>
              <a:t>, maintaining a very high True Positive rate.</a:t>
            </a:r>
          </a:p>
          <a:p>
            <a:r>
              <a:rPr lang="en-US" b="1" dirty="0"/>
              <a:t>The Bottom Line:</a:t>
            </a:r>
            <a:r>
              <a:rPr lang="en-US" dirty="0"/>
              <a:t> When we combine these metrics, we see that our hybrid approach didn't just pass the competition—it delivered a solid </a:t>
            </a:r>
            <a:r>
              <a:rPr lang="en-US" b="1" dirty="0"/>
              <a:t>11.18% improvement</a:t>
            </a:r>
            <a:r>
              <a:rPr lang="en-US" dirty="0"/>
              <a:t> in overall accuracy over the best-performing baseline.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39F4B-8168-996B-DDD1-3CF7458AF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6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alone don't build trust. We needed to know </a:t>
            </a:r>
            <a:r>
              <a:rPr lang="en-US" i="1" dirty="0"/>
              <a:t>what</a:t>
            </a:r>
            <a:r>
              <a:rPr lang="en-US" dirty="0"/>
              <a:t> the model was looking at. Using </a:t>
            </a:r>
            <a:r>
              <a:rPr lang="en-US" b="1" dirty="0"/>
              <a:t>Grad-CAM++</a:t>
            </a:r>
            <a:r>
              <a:rPr lang="en-US" dirty="0"/>
              <a:t>, we generated these heatmaps. As you can see in the malignant samples, the model ignores the background and focuses its attention strictly on the </a:t>
            </a:r>
            <a:r>
              <a:rPr lang="en-US" b="1" dirty="0"/>
              <a:t>hyperchromatic nuclei</a:t>
            </a:r>
            <a:r>
              <a:rPr lang="en-US" dirty="0"/>
              <a:t> and irregular cell clusters. This confirms that </a:t>
            </a:r>
            <a:r>
              <a:rPr lang="en-US" dirty="0" err="1"/>
              <a:t>TriFuse-xNet</a:t>
            </a:r>
            <a:r>
              <a:rPr lang="en-US" dirty="0"/>
              <a:t> is making decisions based on actual, clinically relevant pathological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72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we have successfully developed </a:t>
            </a:r>
            <a:r>
              <a:rPr lang="en-US" b="1" dirty="0" err="1"/>
              <a:t>TriFuse-xNet</a:t>
            </a:r>
            <a:r>
              <a:rPr lang="en-US" dirty="0"/>
              <a:t>, a hybrid framework that bridges the gap between lab accuracy and clinical utility. We proved that by fusing complementary features, we can achieve superior </a:t>
            </a:r>
            <a:r>
              <a:rPr lang="en-US" b="1" dirty="0"/>
              <a:t>robustness</a:t>
            </a:r>
            <a:r>
              <a:rPr lang="en-US" dirty="0"/>
              <a:t> on unseen data while maintaining </a:t>
            </a:r>
            <a:r>
              <a:rPr lang="en-US" b="1" dirty="0"/>
              <a:t>transparency</a:t>
            </a:r>
            <a:r>
              <a:rPr lang="en-US" dirty="0"/>
              <a:t> through XAI. Our next step is to scale this architecture to handle </a:t>
            </a:r>
            <a:r>
              <a:rPr lang="en-US" b="1" dirty="0"/>
              <a:t>Whole Slide Images</a:t>
            </a:r>
            <a:r>
              <a:rPr lang="en-US" dirty="0"/>
              <a:t> and integrate </a:t>
            </a:r>
            <a:r>
              <a:rPr lang="en-US" b="1" dirty="0"/>
              <a:t>Vision Transformers</a:t>
            </a:r>
            <a:r>
              <a:rPr lang="en-US" dirty="0"/>
              <a:t>, moving us one step closer to an AI assistant that clinicians can fully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31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479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65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359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130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68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7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58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43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848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3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54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77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953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66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F7805641-F05E-A105-6D39-950D66BD2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740" y="2873247"/>
            <a:ext cx="7335835" cy="12441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cap="none" dirty="0"/>
              <a:t>Course Name: Knowledge-Based Systems </a:t>
            </a:r>
          </a:p>
          <a:p>
            <a:r>
              <a:rPr lang="en-US" cap="none" dirty="0"/>
              <a:t>Section: A [</a:t>
            </a:r>
            <a:r>
              <a:rPr lang="en-US" cap="none" dirty="0" err="1"/>
              <a:t>MScCS</a:t>
            </a:r>
            <a:r>
              <a:rPr lang="en-US" cap="none" dirty="0"/>
              <a:t>]</a:t>
            </a:r>
          </a:p>
          <a:p>
            <a:r>
              <a:rPr lang="en-US" cap="none" dirty="0"/>
              <a:t>Faculty:</a:t>
            </a:r>
          </a:p>
        </p:txBody>
      </p:sp>
      <p:pic>
        <p:nvPicPr>
          <p:cNvPr id="4" name="Picture 4" descr="Faculty of Engineering | AIUB">
            <a:extLst>
              <a:ext uri="{FF2B5EF4-FFF2-40B4-BE49-F238E27FC236}">
                <a16:creationId xmlns:a16="http://schemas.microsoft.com/office/drawing/2014/main" id="{509F2F34-7E3D-9648-ACD5-B7752E72A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46416" y="594933"/>
            <a:ext cx="1474623" cy="14668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A58F28-1204-B14E-A3CB-D6EAC4FC8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764EA9-1018-4444-A261-716130789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41">
              <a:extLst>
                <a:ext uri="{FF2B5EF4-FFF2-40B4-BE49-F238E27FC236}">
                  <a16:creationId xmlns:a16="http://schemas.microsoft.com/office/drawing/2014/main" id="{5D51C7DA-5177-5144-984B-00F10F561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2">
              <a:extLst>
                <a:ext uri="{FF2B5EF4-FFF2-40B4-BE49-F238E27FC236}">
                  <a16:creationId xmlns:a16="http://schemas.microsoft.com/office/drawing/2014/main" id="{4B12F2B7-1732-7B44-A39D-5F2EBDE40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E3C016CB-983A-A949-9D9F-D5C818C7E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4">
              <a:extLst>
                <a:ext uri="{FF2B5EF4-FFF2-40B4-BE49-F238E27FC236}">
                  <a16:creationId xmlns:a16="http://schemas.microsoft.com/office/drawing/2014/main" id="{D5187172-558E-D84E-899F-EB162C039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5">
              <a:extLst>
                <a:ext uri="{FF2B5EF4-FFF2-40B4-BE49-F238E27FC236}">
                  <a16:creationId xmlns:a16="http://schemas.microsoft.com/office/drawing/2014/main" id="{39DD5291-E906-9B41-A0DD-C8B79F985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6">
              <a:extLst>
                <a:ext uri="{FF2B5EF4-FFF2-40B4-BE49-F238E27FC236}">
                  <a16:creationId xmlns:a16="http://schemas.microsoft.com/office/drawing/2014/main" id="{5221D107-563F-9147-B04E-A54D4D4CB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207A66C4-9B3B-5B48-7F87-C6432F54B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9149125" cy="1336579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/>
              <a:t>TriFuse-xNet</a:t>
            </a:r>
            <a:r>
              <a:rPr lang="en-US" sz="2800" dirty="0"/>
              <a:t>: Bridging the Generalization Gap in Breast Cancer Histopathology via </a:t>
            </a:r>
            <a:br>
              <a:rPr lang="en-US" sz="2800" dirty="0"/>
            </a:br>
            <a:r>
              <a:rPr lang="en-US" sz="2800" dirty="0"/>
              <a:t>Explainable Hybrid Fusion</a:t>
            </a:r>
            <a:endParaRPr lang="en-US" sz="2800" dirty="0">
              <a:latin typeface="Cavolini" panose="020B0502040204020203" pitchFamily="66" charset="0"/>
              <a:cs typeface="Cavolini" panose="020B0502040204020203" pitchFamily="66" charset="0"/>
            </a:endParaRPr>
          </a:p>
        </p:txBody>
      </p:sp>
      <p:sp>
        <p:nvSpPr>
          <p:cNvPr id="13" name="Subtitle 4">
            <a:extLst>
              <a:ext uri="{FF2B5EF4-FFF2-40B4-BE49-F238E27FC236}">
                <a16:creationId xmlns:a16="http://schemas.microsoft.com/office/drawing/2014/main" id="{BA556917-4C59-B15A-AEAC-F1E3097482F5}"/>
              </a:ext>
            </a:extLst>
          </p:cNvPr>
          <p:cNvSpPr txBox="1">
            <a:spLocks/>
          </p:cNvSpPr>
          <p:nvPr/>
        </p:nvSpPr>
        <p:spPr>
          <a:xfrm>
            <a:off x="888740" y="4398577"/>
            <a:ext cx="7335835" cy="12441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Presented By</a:t>
            </a:r>
          </a:p>
          <a:p>
            <a:r>
              <a:rPr lang="en-US" dirty="0"/>
              <a:t>Asmaul Hossain Akash (25-93883-3)</a:t>
            </a:r>
          </a:p>
          <a:p>
            <a:r>
              <a:rPr lang="en-US" dirty="0"/>
              <a:t>American International University – Bangladesh (AIUB)</a:t>
            </a:r>
          </a:p>
        </p:txBody>
      </p:sp>
    </p:spTree>
    <p:extLst>
      <p:ext uri="{BB962C8B-B14F-4D97-AF65-F5344CB8AC3E}">
        <p14:creationId xmlns:p14="http://schemas.microsoft.com/office/powerpoint/2010/main" val="55591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List of Contents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&amp; Motivation</a:t>
            </a:r>
          </a:p>
          <a:p>
            <a:r>
              <a:rPr lang="en-US" dirty="0"/>
              <a:t>Literature Review &amp; Research Gaps</a:t>
            </a:r>
          </a:p>
          <a:p>
            <a:r>
              <a:rPr lang="en-US" dirty="0"/>
              <a:t>Methodology &amp; Proposed Architecture </a:t>
            </a:r>
          </a:p>
          <a:p>
            <a:r>
              <a:rPr lang="en-US" dirty="0"/>
              <a:t>Datasets &amp; Experimental Protocols</a:t>
            </a:r>
          </a:p>
          <a:p>
            <a:r>
              <a:rPr lang="en-US" dirty="0"/>
              <a:t>Results: Generalization &amp; Performance</a:t>
            </a:r>
          </a:p>
          <a:p>
            <a:r>
              <a:rPr lang="en-US" dirty="0"/>
              <a:t>Explainable AI (XAI) Analysis</a:t>
            </a:r>
          </a:p>
          <a:p>
            <a:r>
              <a:rPr lang="en-US" dirty="0"/>
              <a:t>Conclusion &amp; Future Directions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4375">
        <p:fade/>
      </p:transition>
    </mc:Choice>
    <mc:Fallback xmlns="">
      <p:transition spd="med" advTm="34375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5C3F09-85AE-F42C-DABE-F7C50352A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48" y="1313718"/>
            <a:ext cx="9348872" cy="478554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/>
              <a:t>• The Clinical Bottleneck: </a:t>
            </a:r>
            <a:br>
              <a:rPr lang="en-US" sz="1600" dirty="0"/>
            </a:br>
            <a:r>
              <a:rPr lang="en-US" sz="1600" dirty="0"/>
              <a:t>	• </a:t>
            </a:r>
            <a:r>
              <a:rPr lang="en-US" sz="1600" b="0" dirty="0"/>
              <a:t>Histopathology is </a:t>
            </a:r>
            <a:r>
              <a:rPr lang="en-US" sz="1600" dirty="0"/>
              <a:t>manual</a:t>
            </a:r>
            <a:r>
              <a:rPr lang="en-US" sz="1600" b="0" dirty="0"/>
              <a:t>, </a:t>
            </a:r>
            <a:r>
              <a:rPr lang="en-US" sz="1600" dirty="0"/>
              <a:t>subjective</a:t>
            </a:r>
            <a:r>
              <a:rPr lang="en-US" sz="1600" b="0" dirty="0"/>
              <a:t>, and </a:t>
            </a:r>
            <a:r>
              <a:rPr lang="en-US" sz="1600" dirty="0"/>
              <a:t>time-intensive</a:t>
            </a:r>
            <a:r>
              <a:rPr lang="en-US" sz="1600" b="0" dirty="0"/>
              <a:t>.</a:t>
            </a:r>
            <a:br>
              <a:rPr lang="en-US" sz="1600" b="0" dirty="0"/>
            </a:br>
            <a:r>
              <a:rPr lang="en-US" sz="1600" b="0" dirty="0"/>
              <a:t>	</a:t>
            </a:r>
            <a:r>
              <a:rPr lang="en-US" sz="1600" dirty="0"/>
              <a:t>•</a:t>
            </a:r>
            <a:r>
              <a:rPr lang="en-US" sz="1600" b="0" dirty="0"/>
              <a:t> Goal: AI to </a:t>
            </a:r>
            <a:r>
              <a:rPr lang="en-US" sz="1600" dirty="0"/>
              <a:t>assist</a:t>
            </a:r>
            <a:r>
              <a:rPr lang="en-US" sz="1600" b="0" dirty="0"/>
              <a:t> pathologist, not just classify images. </a:t>
            </a:r>
            <a:br>
              <a:rPr lang="en-US" sz="1600" b="0" dirty="0"/>
            </a:br>
            <a:br>
              <a:rPr lang="en-US" sz="1600" dirty="0"/>
            </a:br>
            <a:r>
              <a:rPr lang="en-US" sz="1600" dirty="0"/>
              <a:t> • The Critical Failure of Current AI: </a:t>
            </a:r>
            <a:br>
              <a:rPr lang="en-US" sz="1600" dirty="0"/>
            </a:br>
            <a:r>
              <a:rPr lang="en-US" sz="1600" dirty="0"/>
              <a:t>	• Trust Deficit: </a:t>
            </a:r>
            <a:r>
              <a:rPr lang="en-US" sz="1600" b="0" dirty="0"/>
              <a:t>"Black-Box" models offer no explanation. </a:t>
            </a:r>
            <a:br>
              <a:rPr lang="en-US" sz="1600" b="0" dirty="0"/>
            </a:br>
            <a:r>
              <a:rPr lang="en-US" sz="1600" b="0" dirty="0"/>
              <a:t>	</a:t>
            </a:r>
            <a:r>
              <a:rPr lang="en-US" sz="1600" dirty="0"/>
              <a:t>•</a:t>
            </a:r>
            <a:r>
              <a:rPr lang="en-US" sz="1600" b="0" dirty="0"/>
              <a:t> </a:t>
            </a:r>
            <a:r>
              <a:rPr lang="en-US" sz="1600" dirty="0"/>
              <a:t>Generalization Gap</a:t>
            </a:r>
            <a:r>
              <a:rPr lang="en-US" sz="1600" b="0" dirty="0"/>
              <a:t>: High lab accuracy ≠ Real-world performance.</a:t>
            </a:r>
            <a:br>
              <a:rPr lang="en-US" sz="1600" b="0" dirty="0"/>
            </a:br>
            <a:br>
              <a:rPr lang="en-US" sz="1600" b="0" dirty="0"/>
            </a:br>
            <a:r>
              <a:rPr lang="en-US" sz="1600" dirty="0"/>
              <a:t>• Our Objective: </a:t>
            </a:r>
            <a:br>
              <a:rPr lang="en-US" sz="1600" dirty="0"/>
            </a:br>
            <a:r>
              <a:rPr lang="en-US" sz="1600" dirty="0"/>
              <a:t>	•</a:t>
            </a:r>
            <a:r>
              <a:rPr lang="en-US" sz="1600" b="0" dirty="0"/>
              <a:t> To move beyond </a:t>
            </a:r>
            <a:r>
              <a:rPr lang="en-US" sz="1600" dirty="0"/>
              <a:t>Lab Accuracy </a:t>
            </a:r>
            <a:r>
              <a:rPr lang="en-US" sz="1600" b="0" dirty="0"/>
              <a:t>toward </a:t>
            </a:r>
            <a:r>
              <a:rPr lang="en-US" sz="1600" dirty="0"/>
              <a:t>Clinical Robustness</a:t>
            </a:r>
            <a:r>
              <a:rPr lang="en-US" sz="1600" b="0" dirty="0"/>
              <a:t>.</a:t>
            </a:r>
            <a:br>
              <a:rPr lang="en-US" sz="1600" b="0" dirty="0"/>
            </a:br>
            <a:r>
              <a:rPr lang="en-US" sz="1600" b="0" dirty="0"/>
              <a:t>	</a:t>
            </a:r>
            <a:r>
              <a:rPr lang="en-US" sz="1600" dirty="0"/>
              <a:t>•</a:t>
            </a:r>
            <a:r>
              <a:rPr lang="en-US" sz="1600" b="0" dirty="0"/>
              <a:t> Build a system that is: </a:t>
            </a:r>
            <a:br>
              <a:rPr lang="en-US" sz="1600" b="0" dirty="0"/>
            </a:br>
            <a:r>
              <a:rPr lang="en-US" sz="1600" b="0" dirty="0"/>
              <a:t>		</a:t>
            </a:r>
            <a:r>
              <a:rPr lang="en-US" sz="1400" b="0" dirty="0"/>
              <a:t>1. </a:t>
            </a:r>
            <a:r>
              <a:rPr lang="en-US" sz="1400" dirty="0"/>
              <a:t>Transparent</a:t>
            </a:r>
            <a:r>
              <a:rPr lang="en-US" sz="1400" b="0" dirty="0"/>
              <a:t> (Explainable via XAI)</a:t>
            </a:r>
            <a:br>
              <a:rPr lang="en-US" sz="1400" b="0" dirty="0"/>
            </a:br>
            <a:r>
              <a:rPr lang="en-US" sz="1400" b="0" dirty="0"/>
              <a:t>		2. </a:t>
            </a:r>
            <a:r>
              <a:rPr lang="en-US" sz="1400" dirty="0"/>
              <a:t>Transferable</a:t>
            </a:r>
            <a:r>
              <a:rPr lang="en-US" sz="1400" b="0" dirty="0"/>
              <a:t> (Generalizable to new hospitals)</a:t>
            </a:r>
            <a:br>
              <a:rPr lang="en-US" sz="1400" b="0" dirty="0"/>
            </a:br>
            <a:endParaRPr lang="en-US" sz="1400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A0392E-EBB6-8293-EEDC-1B664C1B8990}"/>
              </a:ext>
            </a:extLst>
          </p:cNvPr>
          <p:cNvSpPr txBox="1"/>
          <p:nvPr/>
        </p:nvSpPr>
        <p:spPr>
          <a:xfrm>
            <a:off x="565148" y="399195"/>
            <a:ext cx="8791501" cy="794829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&amp; Motivation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7C2670-8081-9C42-82A1-23BBFAEAA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919876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5BEF7CB-BB00-3345-8542-8F0FAFE1C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633967-4EB4-9A43-9984-7E0C7DCE8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80BB32CE-B79D-9449-AEBB-EC9F56A9A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AFE8EC8C-9217-6E47-ACFA-7B2148F1B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8BEA612E-5CC4-DA4D-8A68-059864439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27">
              <a:extLst>
                <a:ext uri="{FF2B5EF4-FFF2-40B4-BE49-F238E27FC236}">
                  <a16:creationId xmlns:a16="http://schemas.microsoft.com/office/drawing/2014/main" id="{59DC8CDB-7B92-E848-AA26-43105184E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8">
              <a:extLst>
                <a:ext uri="{FF2B5EF4-FFF2-40B4-BE49-F238E27FC236}">
                  <a16:creationId xmlns:a16="http://schemas.microsoft.com/office/drawing/2014/main" id="{876EC8B8-C9EB-A84A-858B-ADF81A5B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9">
              <a:extLst>
                <a:ext uri="{FF2B5EF4-FFF2-40B4-BE49-F238E27FC236}">
                  <a16:creationId xmlns:a16="http://schemas.microsoft.com/office/drawing/2014/main" id="{078C5DEE-08C1-D546-BF9B-933B8419E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FA42EBE-8F86-FE44-BF12-AE5F7C9C1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671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6" name="Picture 25" descr="A black cube with blue text">
            <a:extLst>
              <a:ext uri="{FF2B5EF4-FFF2-40B4-BE49-F238E27FC236}">
                <a16:creationId xmlns:a16="http://schemas.microsoft.com/office/drawing/2014/main" id="{261CE0C3-C39B-0F53-FE27-99B64A74C0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452" y="2863492"/>
            <a:ext cx="5245548" cy="262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40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468D4-BCCB-B630-88EC-AE0E0D8B1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91" y="524990"/>
            <a:ext cx="7335835" cy="56809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Related Work &amp; Research Gaps</a:t>
            </a:r>
            <a:endParaRPr lang="en-US" sz="2000" dirty="0"/>
          </a:p>
        </p:txBody>
      </p:sp>
      <p:pic>
        <p:nvPicPr>
          <p:cNvPr id="7" name="Graphic 6" descr="User Network">
            <a:extLst>
              <a:ext uri="{FF2B5EF4-FFF2-40B4-BE49-F238E27FC236}">
                <a16:creationId xmlns:a16="http://schemas.microsoft.com/office/drawing/2014/main" id="{F1D5E6A5-56EF-62D9-B92A-1E2AF0816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2086" y="1206518"/>
            <a:ext cx="2695801" cy="269580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A58F28-1204-B14E-A3CB-D6EAC4FC8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9764EA9-1018-4444-A261-716130789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41">
              <a:extLst>
                <a:ext uri="{FF2B5EF4-FFF2-40B4-BE49-F238E27FC236}">
                  <a16:creationId xmlns:a16="http://schemas.microsoft.com/office/drawing/2014/main" id="{5D51C7DA-5177-5144-984B-00F10F561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2">
              <a:extLst>
                <a:ext uri="{FF2B5EF4-FFF2-40B4-BE49-F238E27FC236}">
                  <a16:creationId xmlns:a16="http://schemas.microsoft.com/office/drawing/2014/main" id="{4B12F2B7-1732-7B44-A39D-5F2EBDE40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3">
              <a:extLst>
                <a:ext uri="{FF2B5EF4-FFF2-40B4-BE49-F238E27FC236}">
                  <a16:creationId xmlns:a16="http://schemas.microsoft.com/office/drawing/2014/main" id="{E3C016CB-983A-A949-9D9F-D5C818C7E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4">
              <a:extLst>
                <a:ext uri="{FF2B5EF4-FFF2-40B4-BE49-F238E27FC236}">
                  <a16:creationId xmlns:a16="http://schemas.microsoft.com/office/drawing/2014/main" id="{D5187172-558E-D84E-899F-EB162C039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5">
              <a:extLst>
                <a:ext uri="{FF2B5EF4-FFF2-40B4-BE49-F238E27FC236}">
                  <a16:creationId xmlns:a16="http://schemas.microsoft.com/office/drawing/2014/main" id="{39DD5291-E906-9B41-A0DD-C8B79F985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6">
              <a:extLst>
                <a:ext uri="{FF2B5EF4-FFF2-40B4-BE49-F238E27FC236}">
                  <a16:creationId xmlns:a16="http://schemas.microsoft.com/office/drawing/2014/main" id="{5221D107-563F-9147-B04E-A54D4D4CB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4C559B8D-E0C5-90B1-BF57-1BB0151D661D}"/>
              </a:ext>
            </a:extLst>
          </p:cNvPr>
          <p:cNvSpPr txBox="1">
            <a:spLocks/>
          </p:cNvSpPr>
          <p:nvPr/>
        </p:nvSpPr>
        <p:spPr>
          <a:xfrm>
            <a:off x="651491" y="1509546"/>
            <a:ext cx="9348872" cy="47855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/>
              <a:t>• Current Approaches:</a:t>
            </a:r>
            <a:br>
              <a:rPr lang="en-US" sz="1600" dirty="0"/>
            </a:br>
            <a:r>
              <a:rPr lang="en-US" sz="1600" dirty="0"/>
              <a:t>	• Standard CNNs (</a:t>
            </a:r>
            <a:r>
              <a:rPr lang="en-US" sz="1600" dirty="0" err="1"/>
              <a:t>ResNet</a:t>
            </a:r>
            <a:r>
              <a:rPr lang="en-US" sz="1600" dirty="0"/>
              <a:t>, VGG</a:t>
            </a:r>
            <a:r>
              <a:rPr lang="en-US" sz="1600" b="0" dirty="0"/>
              <a:t>): High internal accuracy but </a:t>
            </a:r>
            <a:r>
              <a:rPr lang="en-US" sz="1600" dirty="0"/>
              <a:t>poor generalization 		</a:t>
            </a:r>
            <a:r>
              <a:rPr lang="en-US" sz="1600" b="0" dirty="0"/>
              <a:t>[Rafiq et al.].</a:t>
            </a:r>
            <a:br>
              <a:rPr lang="en-US" sz="1600" dirty="0"/>
            </a:br>
            <a:r>
              <a:rPr lang="en-US" sz="1600" dirty="0"/>
              <a:t>	• Vision Transformers (</a:t>
            </a:r>
            <a:r>
              <a:rPr lang="en-US" sz="1600" dirty="0" err="1"/>
              <a:t>ViT</a:t>
            </a:r>
            <a:r>
              <a:rPr lang="en-US" sz="1600" dirty="0"/>
              <a:t>): </a:t>
            </a:r>
            <a:r>
              <a:rPr lang="en-US" sz="1600" b="0" dirty="0"/>
              <a:t>High performance but </a:t>
            </a:r>
            <a:r>
              <a:rPr lang="en-US" sz="1600" dirty="0"/>
              <a:t>computationally expensive </a:t>
            </a:r>
            <a:r>
              <a:rPr lang="en-US" sz="1600" b="0" dirty="0"/>
              <a:t>&amp; 	data-hungry [Gella et al.].</a:t>
            </a:r>
            <a:br>
              <a:rPr lang="en-US" sz="1600" b="0" dirty="0"/>
            </a:br>
            <a:r>
              <a:rPr lang="en-US" sz="1600" b="0" dirty="0"/>
              <a:t>	• </a:t>
            </a:r>
            <a:r>
              <a:rPr lang="en-US" sz="1600" dirty="0"/>
              <a:t>Existing Hybrids</a:t>
            </a:r>
            <a:r>
              <a:rPr lang="en-US" sz="1600" b="0" dirty="0"/>
              <a:t>: Often lack rigorous </a:t>
            </a:r>
            <a:r>
              <a:rPr lang="en-US" sz="1600" dirty="0"/>
              <a:t>external validation </a:t>
            </a:r>
            <a:r>
              <a:rPr lang="en-US" sz="1600" b="0" dirty="0"/>
              <a:t>(Zero-shot testing)</a:t>
            </a:r>
            <a:br>
              <a:rPr lang="en-US" sz="1600" b="0" dirty="0"/>
            </a:b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/>
              <a:t>• The Unsolved Gap: </a:t>
            </a:r>
            <a:br>
              <a:rPr lang="en-US" sz="1600" dirty="0"/>
            </a:br>
            <a:r>
              <a:rPr lang="en-US" sz="1600" dirty="0"/>
              <a:t>	• </a:t>
            </a:r>
            <a:r>
              <a:rPr lang="en-US" sz="1600" b="0" dirty="0"/>
              <a:t>Existing studies focus heavily on Lab Metrics</a:t>
            </a:r>
            <a:r>
              <a:rPr lang="en-US" sz="1600" dirty="0"/>
              <a:t>.</a:t>
            </a:r>
            <a:br>
              <a:rPr lang="en-US" sz="1600" b="0" dirty="0"/>
            </a:br>
            <a:r>
              <a:rPr lang="en-US" sz="1600" b="0" dirty="0"/>
              <a:t>	</a:t>
            </a:r>
            <a:r>
              <a:rPr lang="en-US" sz="1600" dirty="0"/>
              <a:t>•</a:t>
            </a:r>
            <a:r>
              <a:rPr lang="en-US" sz="1600" b="0" dirty="0"/>
              <a:t> Lack of models that are simultaneously </a:t>
            </a:r>
            <a:r>
              <a:rPr lang="en-US" sz="1600" dirty="0"/>
              <a:t>accurate</a:t>
            </a:r>
            <a:r>
              <a:rPr lang="en-US" sz="1600" b="0" dirty="0"/>
              <a:t>, </a:t>
            </a:r>
            <a:r>
              <a:rPr lang="en-US" sz="1600" dirty="0"/>
              <a:t>generalizable</a:t>
            </a:r>
            <a:r>
              <a:rPr lang="en-US" sz="1600" b="0" dirty="0"/>
              <a:t> to new datasets, 		and </a:t>
            </a:r>
            <a:r>
              <a:rPr lang="en-US" sz="1600" dirty="0"/>
              <a:t>explainable.</a:t>
            </a:r>
            <a:br>
              <a:rPr lang="en-US" sz="1600" b="0" dirty="0"/>
            </a:br>
            <a:endParaRPr 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88930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C9D43F-AC79-0DC7-CC82-893CBDE1B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F0CAFDA3-320A-C24D-A7A1-20C1267E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8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231D73A-BA91-794F-8C09-4F4B41A6D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0F2B36-66F8-FA94-B98F-8E8104078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1" y="770890"/>
            <a:ext cx="4133559" cy="126898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000"/>
              <a:t>Methodology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32469B-CB1A-628F-EE7A-E01A80BFB510}"/>
              </a:ext>
            </a:extLst>
          </p:cNvPr>
          <p:cNvSpPr txBox="1">
            <a:spLocks/>
          </p:cNvSpPr>
          <p:nvPr/>
        </p:nvSpPr>
        <p:spPr>
          <a:xfrm>
            <a:off x="565152" y="2160016"/>
            <a:ext cx="3892850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900"/>
              </a:spcBef>
              <a:spcAft>
                <a:spcPts val="800"/>
              </a:spcAft>
            </a:pPr>
            <a:r>
              <a:rPr lang="en-US" sz="1500" b="0" dirty="0">
                <a:latin typeface="+mn-lt"/>
                <a:ea typeface="+mn-ea"/>
                <a:cs typeface="+mn-cs"/>
              </a:rPr>
              <a:t>• </a:t>
            </a:r>
            <a:r>
              <a:rPr lang="en-US" sz="1500" dirty="0">
                <a:latin typeface="+mn-lt"/>
                <a:ea typeface="+mn-ea"/>
                <a:cs typeface="+mn-cs"/>
              </a:rPr>
              <a:t>Stage 1 Data Preparation</a:t>
            </a:r>
            <a:r>
              <a:rPr lang="en-US" sz="1500" b="0" dirty="0">
                <a:latin typeface="+mn-lt"/>
                <a:ea typeface="+mn-ea"/>
                <a:cs typeface="+mn-cs"/>
              </a:rPr>
              <a:t>: Primary &amp; Secondary Dataset (</a:t>
            </a:r>
            <a:r>
              <a:rPr lang="en-US" sz="1500" b="0" dirty="0" err="1">
                <a:latin typeface="+mn-lt"/>
                <a:ea typeface="+mn-ea"/>
                <a:cs typeface="+mn-cs"/>
              </a:rPr>
              <a:t>BreaKHis</a:t>
            </a:r>
            <a:r>
              <a:rPr lang="en-US" sz="1500" b="0" dirty="0">
                <a:latin typeface="+mn-lt"/>
                <a:ea typeface="+mn-ea"/>
                <a:cs typeface="+mn-cs"/>
              </a:rPr>
              <a:t>)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800"/>
              </a:spcAft>
            </a:pPr>
            <a:r>
              <a:rPr lang="en-US" sz="1500" b="0" dirty="0">
                <a:latin typeface="+mn-lt"/>
                <a:ea typeface="+mn-ea"/>
                <a:cs typeface="+mn-cs"/>
              </a:rPr>
              <a:t>• </a:t>
            </a:r>
            <a:r>
              <a:rPr lang="en-US" sz="1500" dirty="0">
                <a:latin typeface="+mn-lt"/>
                <a:ea typeface="+mn-ea"/>
                <a:cs typeface="+mn-cs"/>
              </a:rPr>
              <a:t>Stage 2 Feature Extraction</a:t>
            </a:r>
            <a:r>
              <a:rPr lang="en-US" sz="1500" b="0" dirty="0">
                <a:latin typeface="+mn-lt"/>
                <a:ea typeface="+mn-ea"/>
                <a:cs typeface="+mn-cs"/>
              </a:rPr>
              <a:t>:  Parallel extraction using Multiple Model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800"/>
              </a:spcAft>
            </a:pPr>
            <a:r>
              <a:rPr lang="en-US" sz="1500" b="0" dirty="0">
                <a:latin typeface="+mn-lt"/>
                <a:ea typeface="+mn-ea"/>
                <a:cs typeface="+mn-cs"/>
              </a:rPr>
              <a:t>• </a:t>
            </a:r>
            <a:r>
              <a:rPr lang="en-US" sz="1500" dirty="0">
                <a:latin typeface="+mn-lt"/>
                <a:ea typeface="+mn-ea"/>
                <a:cs typeface="+mn-cs"/>
              </a:rPr>
              <a:t>Stage 3 Hybrid Fusion</a:t>
            </a:r>
            <a:r>
              <a:rPr lang="en-US" sz="1500" b="0" dirty="0">
                <a:latin typeface="+mn-lt"/>
                <a:ea typeface="+mn-ea"/>
                <a:cs typeface="+mn-cs"/>
              </a:rPr>
              <a:t>: Concatenation → Dense Layer → Sigmoid Output.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800"/>
              </a:spcAft>
            </a:pPr>
            <a:r>
              <a:rPr lang="en-US" sz="1500" b="0" dirty="0">
                <a:latin typeface="+mn-lt"/>
                <a:ea typeface="+mn-ea"/>
                <a:cs typeface="+mn-cs"/>
              </a:rPr>
              <a:t>• </a:t>
            </a:r>
            <a:r>
              <a:rPr lang="en-US" sz="1500" dirty="0">
                <a:latin typeface="+mn-lt"/>
                <a:ea typeface="+mn-ea"/>
                <a:cs typeface="+mn-cs"/>
              </a:rPr>
              <a:t>Stage 4 Evaluation</a:t>
            </a:r>
            <a:r>
              <a:rPr lang="en-US" sz="1500" b="0" dirty="0">
                <a:latin typeface="+mn-lt"/>
                <a:ea typeface="+mn-ea"/>
                <a:cs typeface="+mn-cs"/>
              </a:rPr>
              <a:t>: Zero-Shot Testing &amp; XAI Analysis.</a:t>
            </a:r>
          </a:p>
        </p:txBody>
      </p:sp>
      <p:pic>
        <p:nvPicPr>
          <p:cNvPr id="23" name="Picture 22" descr="A diagram of a diagram&#10;&#10;AI-generated content may be incorrect.">
            <a:extLst>
              <a:ext uri="{FF2B5EF4-FFF2-40B4-BE49-F238E27FC236}">
                <a16:creationId xmlns:a16="http://schemas.microsoft.com/office/drawing/2014/main" id="{856C8B52-2278-A948-9998-FEFEA1F70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4" b="18370"/>
          <a:stretch>
            <a:fillRect/>
          </a:stretch>
        </p:blipFill>
        <p:spPr>
          <a:xfrm>
            <a:off x="4337649" y="1456237"/>
            <a:ext cx="7435885" cy="3601212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72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54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77E2D-E873-1CAB-C35F-1281482A9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89" y="552095"/>
            <a:ext cx="3906367" cy="158744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>
                <a:effectLst/>
              </a:rPr>
              <a:t>Proposed Architecture: </a:t>
            </a:r>
            <a:r>
              <a:rPr lang="en-US" sz="3400" dirty="0" err="1">
                <a:effectLst/>
              </a:rPr>
              <a:t>TriFuse-xNet</a:t>
            </a:r>
            <a:endParaRPr lang="en-US" sz="3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D77931-490A-51E4-8F6F-3B0FEE91A372}"/>
              </a:ext>
            </a:extLst>
          </p:cNvPr>
          <p:cNvSpPr txBox="1"/>
          <p:nvPr/>
        </p:nvSpPr>
        <p:spPr>
          <a:xfrm>
            <a:off x="4833257" y="562898"/>
            <a:ext cx="6780175" cy="22908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900"/>
              </a:spcBef>
            </a:pPr>
            <a:r>
              <a:rPr lang="en-US" sz="1600" dirty="0"/>
              <a:t>The Power of </a:t>
            </a:r>
            <a:r>
              <a:rPr lang="en-US" sz="1600" b="1" dirty="0"/>
              <a:t>Three Fusion </a:t>
            </a:r>
          </a:p>
          <a:p>
            <a:pPr>
              <a:lnSpc>
                <a:spcPct val="90000"/>
              </a:lnSpc>
              <a:spcBef>
                <a:spcPts val="900"/>
              </a:spcBef>
            </a:pPr>
            <a:r>
              <a:rPr lang="en-US" sz="1600" dirty="0"/>
              <a:t>	• </a:t>
            </a:r>
            <a:r>
              <a:rPr lang="en-US" sz="1600" b="1" dirty="0"/>
              <a:t>VGG16</a:t>
            </a:r>
            <a:r>
              <a:rPr lang="en-US" sz="1600" dirty="0"/>
              <a:t>: Captures low-level textural patterns.</a:t>
            </a:r>
          </a:p>
          <a:p>
            <a:pPr>
              <a:lnSpc>
                <a:spcPct val="90000"/>
              </a:lnSpc>
              <a:spcBef>
                <a:spcPts val="900"/>
              </a:spcBef>
            </a:pPr>
            <a:r>
              <a:rPr lang="en-US" sz="1600" dirty="0"/>
              <a:t>	• </a:t>
            </a:r>
            <a:r>
              <a:rPr lang="en-US" sz="1600" b="1" dirty="0"/>
              <a:t>DenseNet121</a:t>
            </a:r>
            <a:r>
              <a:rPr lang="en-US" sz="1600" dirty="0"/>
              <a:t>: Deep semantic features via feature reuse.</a:t>
            </a:r>
          </a:p>
          <a:p>
            <a:pPr>
              <a:lnSpc>
                <a:spcPct val="90000"/>
              </a:lnSpc>
              <a:spcBef>
                <a:spcPts val="900"/>
              </a:spcBef>
            </a:pPr>
            <a:r>
              <a:rPr lang="en-US" sz="1600" dirty="0"/>
              <a:t>	• </a:t>
            </a:r>
            <a:r>
              <a:rPr lang="en-US" sz="1600" b="1" dirty="0" err="1"/>
              <a:t>Xception</a:t>
            </a:r>
            <a:r>
              <a:rPr lang="en-US" sz="1600" dirty="0"/>
              <a:t>: Spatial correlations via </a:t>
            </a:r>
            <a:r>
              <a:rPr lang="en-US" sz="1600" dirty="0" err="1"/>
              <a:t>depthwise</a:t>
            </a:r>
            <a:r>
              <a:rPr lang="en-US" sz="1600" dirty="0"/>
              <a:t> separable 	convolutions.</a:t>
            </a:r>
          </a:p>
          <a:p>
            <a:pPr indent="-2286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90000"/>
              </a:lnSpc>
              <a:spcBef>
                <a:spcPts val="900"/>
              </a:spcBef>
            </a:pPr>
            <a:r>
              <a:rPr lang="en-US" sz="1600" dirty="0"/>
              <a:t>• </a:t>
            </a:r>
            <a:r>
              <a:rPr lang="en-US" sz="1600" b="1" dirty="0"/>
              <a:t>Fusion Strategy</a:t>
            </a:r>
            <a:r>
              <a:rPr lang="en-US" sz="1600" dirty="0"/>
              <a:t>: Combines distinct inductive biases (Texture + 			Semantics + Spatial).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B19F9276-115D-5E1F-19A0-2F3635477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90" b="12243"/>
          <a:stretch>
            <a:fillRect/>
          </a:stretch>
        </p:blipFill>
        <p:spPr>
          <a:xfrm>
            <a:off x="651489" y="2691638"/>
            <a:ext cx="10885620" cy="3189732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770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93DD0-2D1D-8E02-4703-1B3E69D5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8367835" cy="806701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Datasets &amp; Experimental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5275D-0B0D-BF55-ACA8-59BAC5841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160016"/>
            <a:ext cx="6106955" cy="2813918"/>
          </a:xfrm>
        </p:spPr>
        <p:txBody>
          <a:bodyPr>
            <a:normAutofit/>
          </a:bodyPr>
          <a:lstStyle/>
          <a:p>
            <a:r>
              <a:rPr lang="en-US" sz="1500" b="1" dirty="0"/>
              <a:t>Primary Dataset (Training):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	Source:</a:t>
            </a:r>
            <a:r>
              <a:rPr lang="en-US" sz="1500" dirty="0"/>
              <a:t> Multi Cancer Dataset (10,000 images).</a:t>
            </a:r>
          </a:p>
          <a:p>
            <a:pPr marL="0" indent="0">
              <a:buNone/>
            </a:pPr>
            <a:r>
              <a:rPr lang="en-US" sz="1500" b="1" dirty="0"/>
              <a:t>	Role:</a:t>
            </a:r>
            <a:r>
              <a:rPr lang="en-US" sz="1500" dirty="0"/>
              <a:t> Training &amp; Internal Validation (5-Fold CV).</a:t>
            </a:r>
          </a:p>
          <a:p>
            <a:r>
              <a:rPr lang="en-US" sz="1500" b="1" dirty="0"/>
              <a:t>Secondary Dataset (Testing and Validating):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	Source:</a:t>
            </a:r>
            <a:r>
              <a:rPr lang="en-US" sz="1500" dirty="0"/>
              <a:t> </a:t>
            </a:r>
            <a:r>
              <a:rPr lang="en-US" sz="1500" dirty="0" err="1"/>
              <a:t>BreaKHis</a:t>
            </a:r>
            <a:r>
              <a:rPr lang="en-US" sz="1500" dirty="0"/>
              <a:t> (~9,000 images).</a:t>
            </a:r>
          </a:p>
          <a:p>
            <a:pPr marL="0" indent="0">
              <a:buNone/>
            </a:pPr>
            <a:r>
              <a:rPr lang="en-US" sz="1500" b="1" dirty="0"/>
              <a:t>	Role:</a:t>
            </a:r>
            <a:r>
              <a:rPr lang="en-US" sz="1500" dirty="0"/>
              <a:t> </a:t>
            </a:r>
            <a:r>
              <a:rPr lang="en-US" sz="1500" b="1" dirty="0"/>
              <a:t>Zero-Shot Evaluation</a:t>
            </a:r>
            <a:r>
              <a:rPr lang="en-US" sz="1500" dirty="0"/>
              <a:t>.</a:t>
            </a:r>
          </a:p>
          <a:p>
            <a:pPr lvl="2"/>
            <a:r>
              <a:rPr lang="en-US" sz="1300" dirty="0"/>
              <a:t>Strictly unseen data</a:t>
            </a:r>
            <a:r>
              <a:rPr lang="en-US" sz="1300" i="1" dirty="0"/>
              <a:t>.</a:t>
            </a:r>
            <a:endParaRPr lang="en-US" sz="1300" dirty="0"/>
          </a:p>
          <a:p>
            <a:pPr lvl="2"/>
            <a:r>
              <a:rPr lang="en-US" sz="1300" dirty="0"/>
              <a:t>Purpose</a:t>
            </a:r>
            <a:r>
              <a:rPr lang="en-US" sz="1300" i="1" dirty="0"/>
              <a:t>:</a:t>
            </a:r>
            <a:r>
              <a:rPr lang="en-US" sz="1300" dirty="0"/>
              <a:t> To test true </a:t>
            </a:r>
            <a:r>
              <a:rPr lang="en-US" sz="1300" b="1" dirty="0"/>
              <a:t>Clinical Robustness</a:t>
            </a:r>
            <a:r>
              <a:rPr lang="en-US" sz="1300" dirty="0"/>
              <a:t>.</a:t>
            </a:r>
          </a:p>
        </p:txBody>
      </p:sp>
      <p:pic>
        <p:nvPicPr>
          <p:cNvPr id="8" name="Picture 7" descr="A close-up of a card&#10;&#10;AI-generated content may be incorrect.">
            <a:extLst>
              <a:ext uri="{FF2B5EF4-FFF2-40B4-BE49-F238E27FC236}">
                <a16:creationId xmlns:a16="http://schemas.microsoft.com/office/drawing/2014/main" id="{8521167C-A29F-8899-FD94-860FF947C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037" y="1735011"/>
            <a:ext cx="5731813" cy="2813917"/>
          </a:xfrm>
          <a:prstGeom prst="rect">
            <a:avLst/>
          </a:prstGeom>
        </p:spPr>
      </p:pic>
      <p:pic>
        <p:nvPicPr>
          <p:cNvPr id="10" name="Picture 9" descr="A diagram of a model&#10;&#10;AI-generated content may be incorrect.">
            <a:extLst>
              <a:ext uri="{FF2B5EF4-FFF2-40B4-BE49-F238E27FC236}">
                <a16:creationId xmlns:a16="http://schemas.microsoft.com/office/drawing/2014/main" id="{8C86ABFB-09A8-3F58-A867-A929014DB1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716" y="4387727"/>
            <a:ext cx="2971800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498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1" name="Rectangle 2110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8FF9C-CB6B-C3F9-6726-6529A8396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9814797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i="0" dirty="0">
                <a:effectLst/>
                <a:latin typeface="ProximaNova"/>
              </a:rPr>
              <a:t>Key Result: Bridging the Generalization Gap</a:t>
            </a:r>
            <a:endParaRPr lang="en-US" dirty="0"/>
          </a:p>
        </p:txBody>
      </p:sp>
      <p:grpSp>
        <p:nvGrpSpPr>
          <p:cNvPr id="2112" name="Group 2111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113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14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15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16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117" name="Straight Connector 2116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40437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with a bar chart&#10;&#10;AI-generated content may be incorrect.">
            <a:extLst>
              <a:ext uri="{FF2B5EF4-FFF2-40B4-BE49-F238E27FC236}">
                <a16:creationId xmlns:a16="http://schemas.microsoft.com/office/drawing/2014/main" id="{B9082225-F95A-E5A2-DD82-3A1991FE0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213" y="2180553"/>
            <a:ext cx="4937535" cy="3285135"/>
          </a:xfrm>
          <a:prstGeom prst="rect">
            <a:avLst/>
          </a:prstGeom>
        </p:spPr>
      </p:pic>
      <p:graphicFrame>
        <p:nvGraphicFramePr>
          <p:cNvPr id="2075" name="Content Placeholder 2">
            <a:extLst>
              <a:ext uri="{FF2B5EF4-FFF2-40B4-BE49-F238E27FC236}">
                <a16:creationId xmlns:a16="http://schemas.microsoft.com/office/drawing/2014/main" id="{6B3E8417-2FDA-68A4-23B5-41F6B3A1E4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8118539"/>
              </p:ext>
            </p:extLst>
          </p:nvPr>
        </p:nvGraphicFramePr>
        <p:xfrm>
          <a:off x="565150" y="2160016"/>
          <a:ext cx="6400999" cy="3601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23116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1DFE4-1FD8-A074-74FD-92306F281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31" name="Rectangle 3130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B981B-CC50-39BB-83B5-8AED5F2D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694" y="526505"/>
            <a:ext cx="5755263" cy="907186"/>
          </a:xfrm>
        </p:spPr>
        <p:txBody>
          <a:bodyPr>
            <a:normAutofit/>
          </a:bodyPr>
          <a:lstStyle/>
          <a:p>
            <a:r>
              <a:rPr lang="en-US" sz="3600" dirty="0"/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11009-A336-C317-7A6A-59F3530FE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3614" y="526505"/>
            <a:ext cx="5839817" cy="18318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Highlights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Confusion Matrix: </a:t>
            </a:r>
            <a:r>
              <a:rPr lang="en-US" sz="1400" dirty="0"/>
              <a:t>High True Positive rate on external data.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ROC Curve:</a:t>
            </a:r>
            <a:r>
              <a:rPr lang="en-US" sz="1400" dirty="0"/>
              <a:t> </a:t>
            </a:r>
            <a:r>
              <a:rPr lang="en-US" sz="1400" dirty="0" err="1"/>
              <a:t>TriFuse-xNet</a:t>
            </a:r>
            <a:r>
              <a:rPr lang="en-US" sz="1400" dirty="0"/>
              <a:t> (Red line) has the highest AUC (0.89), outperforming </a:t>
            </a:r>
            <a:r>
              <a:rPr lang="en-US" sz="1400" dirty="0" err="1"/>
              <a:t>DenseNet</a:t>
            </a:r>
            <a:r>
              <a:rPr lang="en-US" sz="1400" dirty="0"/>
              <a:t> (0.78)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Improvement:</a:t>
            </a:r>
            <a:r>
              <a:rPr lang="en-US" sz="1400" dirty="0"/>
              <a:t> </a:t>
            </a:r>
            <a:r>
              <a:rPr lang="en-US" sz="1400" b="1" dirty="0"/>
              <a:t>+11.18%</a:t>
            </a:r>
            <a:r>
              <a:rPr lang="en-US" sz="1400" dirty="0"/>
              <a:t> accuracy gain over the best baseline.</a:t>
            </a:r>
          </a:p>
        </p:txBody>
      </p:sp>
      <p:pic>
        <p:nvPicPr>
          <p:cNvPr id="8" name="Picture 7" descr="A graph of a curve&#10;&#10;AI-generated content may be incorrect.">
            <a:extLst>
              <a:ext uri="{FF2B5EF4-FFF2-40B4-BE49-F238E27FC236}">
                <a16:creationId xmlns:a16="http://schemas.microsoft.com/office/drawing/2014/main" id="{59080953-6CC7-92EA-326B-7FFDB8B69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880"/>
          <a:stretch>
            <a:fillRect/>
          </a:stretch>
        </p:blipFill>
        <p:spPr>
          <a:xfrm>
            <a:off x="859538" y="2691637"/>
            <a:ext cx="4914076" cy="3186265"/>
          </a:xfrm>
          <a:prstGeom prst="rect">
            <a:avLst/>
          </a:prstGeom>
        </p:spPr>
      </p:pic>
      <p:pic>
        <p:nvPicPr>
          <p:cNvPr id="5" name="Picture 4" descr="A blue squares with black numbers&#10;&#10;AI-generated content may be incorrect.">
            <a:extLst>
              <a:ext uri="{FF2B5EF4-FFF2-40B4-BE49-F238E27FC236}">
                <a16:creationId xmlns:a16="http://schemas.microsoft.com/office/drawing/2014/main" id="{C07323DE-B721-D25A-23EF-1EE5EF94E3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22"/>
          <a:stretch>
            <a:fillRect/>
          </a:stretch>
        </p:blipFill>
        <p:spPr>
          <a:xfrm>
            <a:off x="6424512" y="2691637"/>
            <a:ext cx="4897893" cy="3186265"/>
          </a:xfrm>
          <a:prstGeom prst="rect">
            <a:avLst/>
          </a:prstGeom>
        </p:spPr>
      </p:pic>
      <p:grpSp>
        <p:nvGrpSpPr>
          <p:cNvPr id="3133" name="Group 3132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134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5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6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7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139" name="Straight Connector 3138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939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7" name="Rectangle 309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2BB1F2-1D97-79A8-E1B0-DE4C2BF83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562898"/>
            <a:ext cx="6400999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Qualitative Analysis: Explainable AI (XAI)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9D5AD-9836-875A-2E3C-CB3C78F74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9" y="2394780"/>
            <a:ext cx="6400999" cy="36012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pt-BR" sz="1700" b="1" dirty="0"/>
              <a:t>Technique</a:t>
            </a:r>
            <a:r>
              <a:rPr lang="pt-BR" sz="1700" dirty="0"/>
              <a:t>: Grad-CAM++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1700" b="1" dirty="0"/>
              <a:t>Visual Evidence: </a:t>
            </a:r>
            <a:endParaRPr lang="en-US" sz="1700" dirty="0"/>
          </a:p>
          <a:p>
            <a:pPr lvl="1">
              <a:lnSpc>
                <a:spcPct val="90000"/>
              </a:lnSpc>
            </a:pPr>
            <a:r>
              <a:rPr lang="en-US" sz="1700" b="1" dirty="0"/>
              <a:t>Benign Samples: </a:t>
            </a:r>
            <a:r>
              <a:rPr lang="en-US" sz="1700" dirty="0"/>
              <a:t>Model attends to broad tissue structures.</a:t>
            </a:r>
          </a:p>
          <a:p>
            <a:pPr lvl="1">
              <a:lnSpc>
                <a:spcPct val="90000"/>
              </a:lnSpc>
            </a:pPr>
            <a:r>
              <a:rPr lang="en-US" sz="1700" b="1" dirty="0"/>
              <a:t>Malignant Samples</a:t>
            </a:r>
            <a:r>
              <a:rPr lang="en-US" sz="1700" dirty="0"/>
              <a:t>: High activation (Red) strictly on hyperchromatic nuclei</a:t>
            </a:r>
            <a:r>
              <a:rPr lang="en-US" sz="1700" b="1" dirty="0"/>
              <a:t>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1700" b="1" dirty="0"/>
              <a:t>Clinical Significance</a:t>
            </a:r>
            <a:r>
              <a:rPr lang="en-US" sz="1700" dirty="0"/>
              <a:t>: 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Model </a:t>
            </a:r>
            <a:r>
              <a:rPr lang="en-US" sz="1700" b="1" dirty="0"/>
              <a:t>ignores</a:t>
            </a:r>
            <a:r>
              <a:rPr lang="en-US" sz="1700" dirty="0"/>
              <a:t> background artifacts.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Decision logic aligns with </a:t>
            </a:r>
            <a:r>
              <a:rPr lang="en-US" sz="1700" b="1" dirty="0"/>
              <a:t>pathological diagnostic criteria</a:t>
            </a:r>
            <a:r>
              <a:rPr lang="en-US" sz="1700" dirty="0"/>
              <a:t>.</a:t>
            </a:r>
          </a:p>
        </p:txBody>
      </p:sp>
      <p:grpSp>
        <p:nvGrpSpPr>
          <p:cNvPr id="3099" name="Group 3098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100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01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02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03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105" name="Straight Connector 3104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40437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ollage of different colored maps&#10;&#10;AI-generated content may be incorrect.">
            <a:extLst>
              <a:ext uri="{FF2B5EF4-FFF2-40B4-BE49-F238E27FC236}">
                <a16:creationId xmlns:a16="http://schemas.microsoft.com/office/drawing/2014/main" id="{8DDFE5FD-D2E4-684D-A3E7-0021D0187C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442" y="346035"/>
            <a:ext cx="4104277" cy="582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470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35" name="Rectangle 4134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19634-86B7-D6F0-6471-7799491DB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8408028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Conclusion &amp; 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7F1FA-4D57-D47D-B0CC-E0F3FD85D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167" y="1934412"/>
            <a:ext cx="6659615" cy="36012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Summary: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1600" b="1" dirty="0"/>
              <a:t>Success:</a:t>
            </a:r>
            <a:r>
              <a:rPr lang="en-US" sz="1600" dirty="0"/>
              <a:t> Developed </a:t>
            </a:r>
            <a:r>
              <a:rPr lang="en-US" sz="1600" dirty="0" err="1"/>
              <a:t>TriFuse-xNet</a:t>
            </a:r>
            <a:r>
              <a:rPr lang="en-US" sz="1600" dirty="0"/>
              <a:t> (Hybrid Fusion).</a:t>
            </a:r>
          </a:p>
          <a:p>
            <a:pPr lvl="1">
              <a:lnSpc>
                <a:spcPct val="90000"/>
              </a:lnSpc>
            </a:pPr>
            <a:r>
              <a:rPr lang="en-US" sz="1600" b="1" dirty="0"/>
              <a:t>Robustness:</a:t>
            </a:r>
            <a:r>
              <a:rPr lang="en-US" sz="1600" dirty="0"/>
              <a:t> Achieved </a:t>
            </a:r>
            <a:r>
              <a:rPr lang="en-US" sz="1600" b="1" dirty="0"/>
              <a:t>83.26%</a:t>
            </a:r>
            <a:r>
              <a:rPr lang="en-US" sz="1600" dirty="0"/>
              <a:t> external accuracy.</a:t>
            </a:r>
          </a:p>
          <a:p>
            <a:pPr lvl="1">
              <a:lnSpc>
                <a:spcPct val="90000"/>
              </a:lnSpc>
            </a:pPr>
            <a:r>
              <a:rPr lang="en-US" sz="1600" b="1" dirty="0"/>
              <a:t>Trust:</a:t>
            </a:r>
            <a:r>
              <a:rPr lang="en-US" sz="1600" dirty="0"/>
              <a:t> Established transparency via XAI.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Future Work: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1600" dirty="0"/>
              <a:t>Extend framework to </a:t>
            </a:r>
            <a:r>
              <a:rPr lang="en-US" sz="1600" b="1" dirty="0"/>
              <a:t>Whole Slide Images (WSI)</a:t>
            </a:r>
            <a:r>
              <a:rPr lang="en-US" sz="16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Integrate </a:t>
            </a:r>
            <a:r>
              <a:rPr lang="en-US" sz="1600" b="1" dirty="0"/>
              <a:t>Vision Transformers (</a:t>
            </a:r>
            <a:r>
              <a:rPr lang="en-US" sz="1600" b="1" dirty="0" err="1"/>
              <a:t>ViT</a:t>
            </a:r>
            <a:r>
              <a:rPr lang="en-US" sz="1600" b="1" dirty="0"/>
              <a:t>)</a:t>
            </a:r>
            <a:r>
              <a:rPr lang="en-US" sz="1600" dirty="0"/>
              <a:t> for global context capture.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Conduct prospective studies with </a:t>
            </a:r>
            <a:r>
              <a:rPr lang="en-US" sz="1600" b="1" dirty="0"/>
              <a:t>pathologists in the loop</a:t>
            </a:r>
            <a:r>
              <a:rPr lang="en-US" sz="1600" dirty="0"/>
              <a:t>.</a:t>
            </a:r>
          </a:p>
        </p:txBody>
      </p:sp>
      <p:pic>
        <p:nvPicPr>
          <p:cNvPr id="4098" name="Picture 2" descr="Image Recognition with Transfer Learning (98.5%)">
            <a:extLst>
              <a:ext uri="{FF2B5EF4-FFF2-40B4-BE49-F238E27FC236}">
                <a16:creationId xmlns:a16="http://schemas.microsoft.com/office/drawing/2014/main" id="{C2EBBA76-C7EE-54A9-6087-8B9366EDB2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5" r="27776" b="2"/>
          <a:stretch/>
        </p:blipFill>
        <p:spPr bwMode="auto">
          <a:xfrm>
            <a:off x="8051964" y="1834091"/>
            <a:ext cx="3601215" cy="360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37" name="Group 4136">
            <a:extLst>
              <a:ext uri="{FF2B5EF4-FFF2-40B4-BE49-F238E27FC236}">
                <a16:creationId xmlns:a16="http://schemas.microsoft.com/office/drawing/2014/main" id="{97620302-BEE8-1447-8324-5F4178AA1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138" name="Freeform 37">
              <a:extLst>
                <a:ext uri="{FF2B5EF4-FFF2-40B4-BE49-F238E27FC236}">
                  <a16:creationId xmlns:a16="http://schemas.microsoft.com/office/drawing/2014/main" id="{075332F5-EA0C-8B40-ADC9-D024EBD77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39" name="Freeform 39">
              <a:extLst>
                <a:ext uri="{FF2B5EF4-FFF2-40B4-BE49-F238E27FC236}">
                  <a16:creationId xmlns:a16="http://schemas.microsoft.com/office/drawing/2014/main" id="{2619F114-DF39-F544-B487-5430D00E1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40" name="Freeform 41">
              <a:extLst>
                <a:ext uri="{FF2B5EF4-FFF2-40B4-BE49-F238E27FC236}">
                  <a16:creationId xmlns:a16="http://schemas.microsoft.com/office/drawing/2014/main" id="{5CDF6368-32C4-A64F-8D2E-11DE400CD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41" name="Freeform 42">
              <a:extLst>
                <a:ext uri="{FF2B5EF4-FFF2-40B4-BE49-F238E27FC236}">
                  <a16:creationId xmlns:a16="http://schemas.microsoft.com/office/drawing/2014/main" id="{148F19D8-49E5-0945-BC17-56044D43D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143" name="Straight Connector 4142">
            <a:extLst>
              <a:ext uri="{FF2B5EF4-FFF2-40B4-BE49-F238E27FC236}">
                <a16:creationId xmlns:a16="http://schemas.microsoft.com/office/drawing/2014/main" id="{68C50EA3-7CF1-9542-A21D-5B3EBACC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065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4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9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0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1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2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3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4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9" name="Rectangle 11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DB86DC-0ABD-0C09-0AD6-560061F61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4134537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7A322-B325-A353-7C74-0083552B2A12}"/>
              </a:ext>
            </a:extLst>
          </p:cNvPr>
          <p:cNvSpPr txBox="1"/>
          <p:nvPr/>
        </p:nvSpPr>
        <p:spPr>
          <a:xfrm>
            <a:off x="565150" y="4283239"/>
            <a:ext cx="4134537" cy="14751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ts val="900"/>
              </a:spcBef>
            </a:pPr>
            <a:r>
              <a:rPr lang="en-US" sz="2000">
                <a:effectLst/>
              </a:rPr>
              <a:t>In conclusion, </a:t>
            </a:r>
            <a:r>
              <a:rPr lang="en-US" sz="2000"/>
              <a:t>Hybrid fusion is significantly more stable across domains.</a:t>
            </a:r>
            <a:endParaRPr lang="en-US" sz="2000">
              <a:effectLst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65B630C-8A26-BF40-AD00-AAAB3F8DF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2" name="Freeform 85">
              <a:extLst>
                <a:ext uri="{FF2B5EF4-FFF2-40B4-BE49-F238E27FC236}">
                  <a16:creationId xmlns:a16="http://schemas.microsoft.com/office/drawing/2014/main" id="{47332152-49D9-5F42-9522-9424EDC70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3" name="Freeform 87">
              <a:extLst>
                <a:ext uri="{FF2B5EF4-FFF2-40B4-BE49-F238E27FC236}">
                  <a16:creationId xmlns:a16="http://schemas.microsoft.com/office/drawing/2014/main" id="{60C97C94-6942-C048-8F6F-55E05CBA1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4" name="Freeform 89">
              <a:extLst>
                <a:ext uri="{FF2B5EF4-FFF2-40B4-BE49-F238E27FC236}">
                  <a16:creationId xmlns:a16="http://schemas.microsoft.com/office/drawing/2014/main" id="{BD92967A-BFB2-E441-AC07-5997DDDD5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5" name="Freeform 100">
              <a:extLst>
                <a:ext uri="{FF2B5EF4-FFF2-40B4-BE49-F238E27FC236}">
                  <a16:creationId xmlns:a16="http://schemas.microsoft.com/office/drawing/2014/main" id="{DC25488D-5181-EC40-A6AC-862FC3787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Graphic 8" descr="Smiling Face with No Fill">
            <a:extLst>
              <a:ext uri="{FF2B5EF4-FFF2-40B4-BE49-F238E27FC236}">
                <a16:creationId xmlns:a16="http://schemas.microsoft.com/office/drawing/2014/main" id="{78CEB3EC-CE2B-E084-353F-80776EEA4E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7943" y="681645"/>
            <a:ext cx="5486059" cy="548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338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931C59-FC77-A8B3-F2A9-A6935536D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6404372" cy="2866405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131C0-4721-03B5-3753-D0BF7F2D1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3004457"/>
            <a:ext cx="6404372" cy="2753959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1400" dirty="0"/>
              <a:t>A. Rafiq, A. Jaffar, G. Latif, S. Masood, and S. E. Abdelhamid, ”Enhanced multi-class breast cancer classification from whole-slide histopathology images using a proposed deep learning model,” Diagnostics, vol. 15, no. 5, Art. no. 582, 2025.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1400" dirty="0"/>
              <a:t>V. Gella, ”High-performance classification of breast cancer histopathological images using fine-tuned vision transformers on the </a:t>
            </a:r>
            <a:r>
              <a:rPr lang="en-US" sz="1400" dirty="0" err="1"/>
              <a:t>BreakHis</a:t>
            </a:r>
            <a:r>
              <a:rPr lang="en-US" sz="1400" dirty="0"/>
              <a:t> dataset,” </a:t>
            </a:r>
            <a:r>
              <a:rPr lang="en-US" sz="1400" dirty="0" err="1"/>
              <a:t>bioRxiv</a:t>
            </a:r>
            <a:r>
              <a:rPr lang="en-US" sz="1400" dirty="0"/>
              <a:t>, preprint, Aug. 2024. </a:t>
            </a:r>
            <a:r>
              <a:rPr lang="en-US" sz="1400" dirty="0" err="1"/>
              <a:t>doi</a:t>
            </a:r>
            <a:r>
              <a:rPr lang="en-US" sz="1400" dirty="0"/>
              <a:t>: 10.1101/2024.08.17.608410.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1400" dirty="0"/>
              <a:t>Y. Zou and P. Miao, ”Explainable AI-enabled hybrid deep learning architecture for breast cancer detection,” Frontiers in Immunology, vol. 16, 2025. </a:t>
            </a:r>
            <a:r>
              <a:rPr lang="en-US" sz="1400" dirty="0" err="1"/>
              <a:t>doi</a:t>
            </a:r>
            <a:r>
              <a:rPr lang="en-US" sz="1400" dirty="0"/>
              <a:t>: 10.3389/fimmu.2025.1658741</a:t>
            </a:r>
            <a:endParaRPr lang="en-GB" sz="1400" dirty="0">
              <a:latin typeface="Arial" panose="020B0604020202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40437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6" descr="Books">
            <a:extLst>
              <a:ext uri="{FF2B5EF4-FFF2-40B4-BE49-F238E27FC236}">
                <a16:creationId xmlns:a16="http://schemas.microsoft.com/office/drawing/2014/main" id="{2A97648C-D09B-6EB6-96A4-ABFF10B751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4656" y="1423446"/>
            <a:ext cx="4002456" cy="4002456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52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7606235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1941</Words>
  <Application>Microsoft Office PowerPoint</Application>
  <PresentationFormat>Widescreen</PresentationFormat>
  <Paragraphs>119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Cavolini</vt:lpstr>
      <vt:lpstr>Neue Haas Grotesk Text Pro</vt:lpstr>
      <vt:lpstr>ProximaNova</vt:lpstr>
      <vt:lpstr>Wingdings</vt:lpstr>
      <vt:lpstr>PunchcardVTI</vt:lpstr>
      <vt:lpstr>TriFuse-xNet: Bridging the Generalization Gap in Breast Cancer Histopathology via  Explainable Hybrid Fusion</vt:lpstr>
      <vt:lpstr>List of Contents</vt:lpstr>
      <vt:lpstr>• The Clinical Bottleneck:   • Histopathology is manual, subjective, and time-intensive.  • Goal: AI to assist pathologist, not just classify images.    • The Critical Failure of Current AI:   • Trust Deficit: "Black-Box" models offer no explanation.   • Generalization Gap: High lab accuracy ≠ Real-world performance.  • Our Objective:   • To move beyond Lab Accuracy toward Clinical Robustness.  • Build a system that is:    1. Transparent (Explainable via XAI)   2. Transferable (Generalizable to new hospitals) </vt:lpstr>
      <vt:lpstr>Related Work &amp; Research Gaps</vt:lpstr>
      <vt:lpstr>Methodology</vt:lpstr>
      <vt:lpstr>Proposed Architecture: TriFuse-xNet</vt:lpstr>
      <vt:lpstr>Datasets &amp; Experimental Protocols</vt:lpstr>
      <vt:lpstr>Key Result: Bridging the Generalization Gap</vt:lpstr>
      <vt:lpstr>Performance Metrics</vt:lpstr>
      <vt:lpstr>Qualitative Analysis: Explainable AI (XAI)</vt:lpstr>
      <vt:lpstr>Conclusion &amp; Future Directions</vt:lpstr>
      <vt:lpstr>Thank you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LEARNING</dc:title>
  <dc:creator>ASMAUL HOSSAIN AKASH</dc:creator>
  <cp:lastModifiedBy>ASMAUL HOSSAIN AKASH</cp:lastModifiedBy>
  <cp:revision>14</cp:revision>
  <dcterms:created xsi:type="dcterms:W3CDTF">2023-04-03T18:04:01Z</dcterms:created>
  <dcterms:modified xsi:type="dcterms:W3CDTF">2026-09-17T20:54:58Z</dcterms:modified>
</cp:coreProperties>
</file>